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in one sentence: you wanted bands that already travel for holiday parades, ranked for Orlando. Here are 214, with the top 50 ready to work. Every number here is traceable to a public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two or three cards: Dobyns-Bennett (four Grand National finals, Rose, and Macy's this November), Carmel (seven straight finals, Rose 2027), Marcus (new: selected for Macy's 2027). Say why each ranks where it does using the chips. Tarpon Springs, the top Florida school, sits at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upfront about the thin contacts before they notice it keeps the conversation on strategy. Three points: public records only; contacts only when published, by design; it refreshes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meeting with answers, not a thank-you. Then close the slides and open prospects.xlsx live: filter the All sheet by state, sort by score, show the East Coast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731520" y="548640"/>
            <a:ext cx="10698480" cy="320040"/>
          </a:xfrm>
          <a:prstGeom prst="rect">
            <a:avLst/>
          </a:prstGeom>
          <a:noFill/>
          <a:ln/>
        </p:spPr>
        <p:txBody>
          <a:bodyPr wrap="square" lIns="0" tIns="0" rIns="0" bIns="0" rtlCol="0" anchor="ctr"/>
          <a:lstStyle/>
          <a:p>
            <a:pPr indent="0" marL="0">
              <a:buNone/>
            </a:pPr>
            <a:r>
              <a:rPr lang="en-US" sz="1200" b="1" spc="300" kern="0" dirty="0">
                <a:solidFill>
                  <a:srgbClr val="D9A64A"/>
                </a:solidFill>
                <a:latin typeface="Arial" pitchFamily="34" charset="0"/>
                <a:ea typeface="Arial" pitchFamily="34" charset="-122"/>
                <a:cs typeface="Arial" pitchFamily="34" charset="-120"/>
              </a:rPr>
              <a:t>TROEN STUDENT PERFORMANCE EVENTS  ·  PARADE PROSPECTS  ·  SEPTEMBER 2026</a:t>
            </a:r>
            <a:endParaRPr lang="en-US" sz="1200" dirty="0"/>
          </a:p>
        </p:txBody>
      </p:sp>
      <p:sp>
        <p:nvSpPr>
          <p:cNvPr id="3" name="Text 1"/>
          <p:cNvSpPr txBox="1"/>
          <p:nvPr/>
        </p:nvSpPr>
        <p:spPr>
          <a:xfrm>
            <a:off x="731520" y="960120"/>
            <a:ext cx="10241280" cy="1737360"/>
          </a:xfrm>
          <a:prstGeom prst="rect">
            <a:avLst/>
          </a:prstGeom>
          <a:noFill/>
          <a:ln/>
        </p:spPr>
        <p:txBody>
          <a:bodyPr wrap="square" lIns="0" tIns="0" rIns="0" bIns="0" rtlCol="0" anchor="t"/>
          <a:lstStyle/>
          <a:p>
            <a:pPr indent="0" marL="0">
              <a:buNone/>
            </a:pPr>
            <a:r>
              <a:rPr lang="en-US" sz="5000" b="1" dirty="0">
                <a:solidFill>
                  <a:srgbClr val="F7F4EE"/>
                </a:solidFill>
                <a:latin typeface="Arial" pitchFamily="34" charset="0"/>
                <a:ea typeface="Arial" pitchFamily="34" charset="-122"/>
                <a:cs typeface="Arial" pitchFamily="34" charset="-120"/>
              </a:rPr>
              <a:t>214 high school bands that already travel for parades</a:t>
            </a:r>
            <a:endParaRPr lang="en-US" sz="5000" dirty="0"/>
          </a:p>
        </p:txBody>
      </p:sp>
      <p:sp>
        <p:nvSpPr>
          <p:cNvPr id="4" name="Text 2"/>
          <p:cNvSpPr txBox="1"/>
          <p:nvPr/>
        </p:nvSpPr>
        <p:spPr>
          <a:xfrm>
            <a:off x="731520" y="2788920"/>
            <a:ext cx="8778240" cy="1005840"/>
          </a:xfrm>
          <a:prstGeom prst="rect">
            <a:avLst/>
          </a:prstGeom>
          <a:noFill/>
          <a:ln/>
        </p:spPr>
        <p:txBody>
          <a:bodyPr wrap="square" lIns="0" tIns="0" rIns="0" bIns="0" rtlCol="0" anchor="t"/>
          <a:lstStyle/>
          <a:p>
            <a:pPr indent="0" marL="0">
              <a:buNone/>
            </a:pPr>
            <a:r>
              <a:rPr lang="en-US" sz="1800" dirty="0">
                <a:solidFill>
                  <a:srgbClr val="C9CFDD"/>
                </a:solidFill>
                <a:latin typeface="Cambria" pitchFamily="34" charset="0"/>
                <a:ea typeface="Cambria" pitchFamily="34" charset="-122"/>
                <a:cs typeface="Cambria" pitchFamily="34" charset="-120"/>
              </a:rPr>
              <a:t>Built from published parade lineups and Bands of America results, matched to federal school records, and ranked for an Orlando Veterans Day invitation. Every school carries the page it came from.</a:t>
            </a:r>
            <a:endParaRPr lang="en-US" sz="1800" dirty="0"/>
          </a:p>
        </p:txBody>
      </p:sp>
      <p:sp>
        <p:nvSpPr>
          <p:cNvPr id="5" name="Text 3"/>
          <p:cNvSpPr txBox="1"/>
          <p:nvPr/>
        </p:nvSpPr>
        <p:spPr>
          <a:xfrm>
            <a:off x="731520" y="4343400"/>
            <a:ext cx="2468880" cy="1005840"/>
          </a:xfrm>
          <a:prstGeom prst="rect">
            <a:avLst/>
          </a:prstGeom>
          <a:noFill/>
          <a:ln/>
        </p:spPr>
        <p:txBody>
          <a:bodyPr wrap="square" lIns="0" tIns="0" rIns="0" bIns="0" rtlCol="0" anchor="b"/>
          <a:lstStyle/>
          <a:p>
            <a:pPr indent="0" marL="0">
              <a:buNone/>
            </a:pPr>
            <a:r>
              <a:rPr lang="en-US" sz="5400" b="1" dirty="0">
                <a:solidFill>
                  <a:srgbClr val="F7F4EE"/>
                </a:solidFill>
                <a:latin typeface="Arial" pitchFamily="34" charset="0"/>
                <a:ea typeface="Arial" pitchFamily="34" charset="-122"/>
                <a:cs typeface="Arial" pitchFamily="34" charset="-120"/>
              </a:rPr>
              <a:t>214</a:t>
            </a:r>
            <a:endParaRPr lang="en-US" sz="5400" dirty="0"/>
          </a:p>
        </p:txBody>
      </p:sp>
      <p:sp>
        <p:nvSpPr>
          <p:cNvPr id="6" name="Text 4"/>
          <p:cNvSpPr txBox="1"/>
          <p:nvPr/>
        </p:nvSpPr>
        <p:spPr>
          <a:xfrm>
            <a:off x="731520" y="5394960"/>
            <a:ext cx="2468880" cy="731520"/>
          </a:xfrm>
          <a:prstGeom prst="rect">
            <a:avLst/>
          </a:prstGeom>
          <a:noFill/>
          <a:ln/>
        </p:spPr>
        <p:txBody>
          <a:bodyPr wrap="square" lIns="0" tIns="0" rIns="0" bIns="0" rtlCol="0" anchor="t"/>
          <a:lstStyle/>
          <a:p>
            <a:pPr indent="0" marL="0">
              <a:buNone/>
            </a:pPr>
            <a:r>
              <a:rPr lang="en-US" sz="1300" dirty="0">
                <a:solidFill>
                  <a:srgbClr val="C9CFDD"/>
                </a:solidFill>
                <a:latin typeface="Arial" pitchFamily="34" charset="0"/>
                <a:ea typeface="Arial" pitchFamily="34" charset="-122"/>
                <a:cs typeface="Arial" pitchFamily="34" charset="-120"/>
              </a:rPr>
              <a:t>schools on the list</a:t>
            </a:r>
            <a:endParaRPr lang="en-US" sz="1300" dirty="0"/>
          </a:p>
        </p:txBody>
      </p:sp>
      <p:sp>
        <p:nvSpPr>
          <p:cNvPr id="7" name="Text 5"/>
          <p:cNvSpPr txBox="1"/>
          <p:nvPr/>
        </p:nvSpPr>
        <p:spPr>
          <a:xfrm>
            <a:off x="3429000" y="4343400"/>
            <a:ext cx="2468880" cy="1005840"/>
          </a:xfrm>
          <a:prstGeom prst="rect">
            <a:avLst/>
          </a:prstGeom>
          <a:noFill/>
          <a:ln/>
        </p:spPr>
        <p:txBody>
          <a:bodyPr wrap="square" lIns="0" tIns="0" rIns="0" bIns="0" rtlCol="0" anchor="b"/>
          <a:lstStyle/>
          <a:p>
            <a:pPr indent="0" marL="0">
              <a:buNone/>
            </a:pPr>
            <a:r>
              <a:rPr lang="en-US" sz="5400" b="1" dirty="0">
                <a:solidFill>
                  <a:srgbClr val="F7F4EE"/>
                </a:solidFill>
                <a:latin typeface="Arial" pitchFamily="34" charset="0"/>
                <a:ea typeface="Arial" pitchFamily="34" charset="-122"/>
                <a:cs typeface="Arial" pitchFamily="34" charset="-120"/>
              </a:rPr>
              <a:t>50</a:t>
            </a:r>
            <a:endParaRPr lang="en-US" sz="5400" dirty="0"/>
          </a:p>
        </p:txBody>
      </p:sp>
      <p:sp>
        <p:nvSpPr>
          <p:cNvPr id="8" name="Text 6"/>
          <p:cNvSpPr txBox="1"/>
          <p:nvPr/>
        </p:nvSpPr>
        <p:spPr>
          <a:xfrm>
            <a:off x="3429000" y="5394960"/>
            <a:ext cx="2468880" cy="731520"/>
          </a:xfrm>
          <a:prstGeom prst="rect">
            <a:avLst/>
          </a:prstGeom>
          <a:noFill/>
          <a:ln/>
        </p:spPr>
        <p:txBody>
          <a:bodyPr wrap="square" lIns="0" tIns="0" rIns="0" bIns="0" rtlCol="0" anchor="t"/>
          <a:lstStyle/>
          <a:p>
            <a:pPr indent="0" marL="0">
              <a:buNone/>
            </a:pPr>
            <a:r>
              <a:rPr lang="en-US" sz="1300" dirty="0">
                <a:solidFill>
                  <a:srgbClr val="C9CFDD"/>
                </a:solidFill>
                <a:latin typeface="Arial" pitchFamily="34" charset="0"/>
                <a:ea typeface="Arial" pitchFamily="34" charset="-122"/>
                <a:cs typeface="Arial" pitchFamily="34" charset="-120"/>
              </a:rPr>
              <a:t>Tier A, ready to work first</a:t>
            </a:r>
            <a:endParaRPr lang="en-US" sz="1300" dirty="0"/>
          </a:p>
        </p:txBody>
      </p:sp>
      <p:sp>
        <p:nvSpPr>
          <p:cNvPr id="9" name="Text 7"/>
          <p:cNvSpPr txBox="1"/>
          <p:nvPr/>
        </p:nvSpPr>
        <p:spPr>
          <a:xfrm>
            <a:off x="6126480" y="4343400"/>
            <a:ext cx="2468880" cy="1005840"/>
          </a:xfrm>
          <a:prstGeom prst="rect">
            <a:avLst/>
          </a:prstGeom>
          <a:noFill/>
          <a:ln/>
        </p:spPr>
        <p:txBody>
          <a:bodyPr wrap="square" lIns="0" tIns="0" rIns="0" bIns="0" rtlCol="0" anchor="b"/>
          <a:lstStyle/>
          <a:p>
            <a:pPr indent="0" marL="0">
              <a:buNone/>
            </a:pPr>
            <a:r>
              <a:rPr lang="en-US" sz="5400" b="1" dirty="0">
                <a:solidFill>
                  <a:srgbClr val="F7F4EE"/>
                </a:solidFill>
                <a:latin typeface="Arial" pitchFamily="34" charset="0"/>
                <a:ea typeface="Arial" pitchFamily="34" charset="-122"/>
                <a:cs typeface="Arial" pitchFamily="34" charset="-120"/>
              </a:rPr>
              <a:t>133</a:t>
            </a:r>
            <a:endParaRPr lang="en-US" sz="5400" dirty="0"/>
          </a:p>
        </p:txBody>
      </p:sp>
      <p:sp>
        <p:nvSpPr>
          <p:cNvPr id="10" name="Text 8"/>
          <p:cNvSpPr txBox="1"/>
          <p:nvPr/>
        </p:nvSpPr>
        <p:spPr>
          <a:xfrm>
            <a:off x="6126480" y="5394960"/>
            <a:ext cx="2468880" cy="731520"/>
          </a:xfrm>
          <a:prstGeom prst="rect">
            <a:avLst/>
          </a:prstGeom>
          <a:noFill/>
          <a:ln/>
        </p:spPr>
        <p:txBody>
          <a:bodyPr wrap="square" lIns="0" tIns="0" rIns="0" bIns="0" rtlCol="0" anchor="t"/>
          <a:lstStyle/>
          <a:p>
            <a:pPr indent="0" marL="0">
              <a:buNone/>
            </a:pPr>
            <a:r>
              <a:rPr lang="en-US" sz="1300" dirty="0">
                <a:solidFill>
                  <a:srgbClr val="C9CFDD"/>
                </a:solidFill>
                <a:latin typeface="Arial" pitchFamily="34" charset="0"/>
                <a:ea typeface="Arial" pitchFamily="34" charset="-122"/>
                <a:cs typeface="Arial" pitchFamily="34" charset="-120"/>
              </a:rPr>
              <a:t>with district and enrollment data</a:t>
            </a:r>
            <a:endParaRPr lang="en-US" sz="1300" dirty="0"/>
          </a:p>
        </p:txBody>
      </p:sp>
      <p:sp>
        <p:nvSpPr>
          <p:cNvPr id="11" name="Text 9"/>
          <p:cNvSpPr txBox="1"/>
          <p:nvPr/>
        </p:nvSpPr>
        <p:spPr>
          <a:xfrm>
            <a:off x="8823960" y="4343400"/>
            <a:ext cx="2468880" cy="1005840"/>
          </a:xfrm>
          <a:prstGeom prst="rect">
            <a:avLst/>
          </a:prstGeom>
          <a:noFill/>
          <a:ln/>
        </p:spPr>
        <p:txBody>
          <a:bodyPr wrap="square" lIns="0" tIns="0" rIns="0" bIns="0" rtlCol="0" anchor="b"/>
          <a:lstStyle/>
          <a:p>
            <a:pPr indent="0" marL="0">
              <a:buNone/>
            </a:pPr>
            <a:r>
              <a:rPr lang="en-US" sz="5400" b="1" dirty="0">
                <a:solidFill>
                  <a:srgbClr val="F7F4EE"/>
                </a:solidFill>
                <a:latin typeface="Arial" pitchFamily="34" charset="0"/>
                <a:ea typeface="Arial" pitchFamily="34" charset="-122"/>
                <a:cs typeface="Arial" pitchFamily="34" charset="-120"/>
              </a:rPr>
              <a:t>3×</a:t>
            </a:r>
            <a:endParaRPr lang="en-US" sz="5400" dirty="0"/>
          </a:p>
        </p:txBody>
      </p:sp>
      <p:sp>
        <p:nvSpPr>
          <p:cNvPr id="12" name="Text 10"/>
          <p:cNvSpPr txBox="1"/>
          <p:nvPr/>
        </p:nvSpPr>
        <p:spPr>
          <a:xfrm>
            <a:off x="8823960" y="5394960"/>
            <a:ext cx="2468880" cy="731520"/>
          </a:xfrm>
          <a:prstGeom prst="rect">
            <a:avLst/>
          </a:prstGeom>
          <a:noFill/>
          <a:ln/>
        </p:spPr>
        <p:txBody>
          <a:bodyPr wrap="square" lIns="0" tIns="0" rIns="0" bIns="0" rtlCol="0" anchor="t"/>
          <a:lstStyle/>
          <a:p>
            <a:pPr indent="0" marL="0">
              <a:buNone/>
            </a:pPr>
            <a:r>
              <a:rPr lang="en-US" sz="1300" dirty="0">
                <a:solidFill>
                  <a:srgbClr val="C9CFDD"/>
                </a:solidFill>
                <a:latin typeface="Arial" pitchFamily="34" charset="0"/>
                <a:ea typeface="Arial" pitchFamily="34" charset="-122"/>
                <a:cs typeface="Arial" pitchFamily="34" charset="-120"/>
              </a:rPr>
              <a:t>refreshed each year as lineups are announced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b="1" spc="300" kern="0" dirty="0">
                <a:solidFill>
                  <a:srgbClr val="B8862B"/>
                </a:solidFill>
                <a:latin typeface="Arial" pitchFamily="34" charset="0"/>
                <a:ea typeface="Arial" pitchFamily="34" charset="-122"/>
                <a:cs typeface="Arial" pitchFamily="34" charset="-120"/>
              </a:rPr>
              <a:t>TIER A  ·  TOP 10 BY SCORE</a:t>
            </a:r>
            <a:endParaRPr lang="en-US" sz="1100" dirty="0"/>
          </a:p>
        </p:txBody>
      </p:sp>
      <p:sp>
        <p:nvSpPr>
          <p:cNvPr id="3" name="Text 1"/>
          <p:cNvSpPr txBox="1"/>
          <p:nvPr/>
        </p:nvSpPr>
        <p:spPr>
          <a:xfrm>
            <a:off x="548640" y="566928"/>
            <a:ext cx="7863840" cy="640080"/>
          </a:xfrm>
          <a:prstGeom prst="rect">
            <a:avLst/>
          </a:prstGeom>
          <a:noFill/>
          <a:ln/>
        </p:spPr>
        <p:txBody>
          <a:bodyPr wrap="square" lIns="0" tIns="0" rIns="0" bIns="0" rtlCol="0" anchor="ctr"/>
          <a:lstStyle/>
          <a:p>
            <a:pPr indent="0" marL="0">
              <a:buNone/>
            </a:pPr>
            <a:r>
              <a:rPr lang="en-US" sz="3000" b="1" dirty="0">
                <a:solidFill>
                  <a:srgbClr val="1B2A4A"/>
                </a:solidFill>
                <a:latin typeface="Arial" pitchFamily="34" charset="0"/>
                <a:ea typeface="Arial" pitchFamily="34" charset="-122"/>
                <a:cs typeface="Arial" pitchFamily="34" charset="-120"/>
              </a:rPr>
              <a:t>The ten strongest programs on the list</a:t>
            </a:r>
            <a:endParaRPr lang="en-US" sz="3000" dirty="0"/>
          </a:p>
        </p:txBody>
      </p:sp>
      <p:sp>
        <p:nvSpPr>
          <p:cNvPr id="4" name="Text 2"/>
          <p:cNvSpPr txBox="1"/>
          <p:nvPr/>
        </p:nvSpPr>
        <p:spPr>
          <a:xfrm>
            <a:off x="548640" y="1115568"/>
            <a:ext cx="1028700" cy="237744"/>
          </a:xfrm>
          <a:prstGeom prst="roundRect">
            <a:avLst>
              <a:gd name="adj" fmla="val 53846"/>
            </a:avLst>
          </a:prstGeom>
          <a:solidFill>
            <a:srgbClr val="F1E5CC"/>
          </a:solidFill>
          <a:ln/>
        </p:spPr>
        <p:txBody>
          <a:bodyPr wrap="square" lIns="0" tIns="0" rIns="0" bIns="0" rtlCol="0" anchor="ctr"/>
          <a:lstStyle/>
          <a:p>
            <a:pPr algn="ctr" indent="0" marL="0">
              <a:buNone/>
            </a:pPr>
            <a:r>
              <a:rPr lang="en-US" sz="900" b="1" dirty="0">
                <a:solidFill>
                  <a:srgbClr val="7A5A15"/>
                </a:solidFill>
                <a:latin typeface="Arial" pitchFamily="34" charset="0"/>
                <a:ea typeface="Arial" pitchFamily="34" charset="-122"/>
                <a:cs typeface="Arial" pitchFamily="34" charset="-120"/>
              </a:rPr>
              <a:t>Rose Parade</a:t>
            </a:r>
            <a:endParaRPr lang="en-US" sz="900" dirty="0"/>
          </a:p>
        </p:txBody>
      </p:sp>
      <p:sp>
        <p:nvSpPr>
          <p:cNvPr id="5" name="Text 3"/>
          <p:cNvSpPr txBox="1"/>
          <p:nvPr/>
        </p:nvSpPr>
        <p:spPr>
          <a:xfrm>
            <a:off x="1668780" y="1115568"/>
            <a:ext cx="685800" cy="237744"/>
          </a:xfrm>
          <a:prstGeom prst="roundRect">
            <a:avLst>
              <a:gd name="adj" fmla="val 53846"/>
            </a:avLst>
          </a:prstGeom>
          <a:solidFill>
            <a:srgbClr val="E8DDEC"/>
          </a:solidFill>
          <a:ln/>
        </p:spPr>
        <p:txBody>
          <a:bodyPr wrap="square" lIns="0" tIns="0" rIns="0" bIns="0" rtlCol="0" anchor="ctr"/>
          <a:lstStyle/>
          <a:p>
            <a:pPr algn="ctr" indent="0" marL="0">
              <a:buNone/>
            </a:pPr>
            <a:r>
              <a:rPr lang="en-US" sz="900" b="1" dirty="0">
                <a:solidFill>
                  <a:srgbClr val="4A2F6B"/>
                </a:solidFill>
                <a:latin typeface="Arial" pitchFamily="34" charset="0"/>
                <a:ea typeface="Arial" pitchFamily="34" charset="-122"/>
                <a:cs typeface="Arial" pitchFamily="34" charset="-120"/>
              </a:rPr>
              <a:t>Macy's</a:t>
            </a:r>
            <a:endParaRPr lang="en-US" sz="900" dirty="0"/>
          </a:p>
        </p:txBody>
      </p:sp>
      <p:sp>
        <p:nvSpPr>
          <p:cNvPr id="6" name="Text 4"/>
          <p:cNvSpPr txBox="1"/>
          <p:nvPr/>
        </p:nvSpPr>
        <p:spPr>
          <a:xfrm>
            <a:off x="2446020" y="1115568"/>
            <a:ext cx="2125980" cy="237744"/>
          </a:xfrm>
          <a:prstGeom prst="roundRect">
            <a:avLst>
              <a:gd name="adj" fmla="val 53846"/>
            </a:avLst>
          </a:prstGeom>
          <a:solidFill>
            <a:srgbClr val="DDE3EE"/>
          </a:solidFill>
          <a:ln/>
        </p:spPr>
        <p:txBody>
          <a:bodyPr wrap="square" lIns="0" tIns="0" rIns="0" bIns="0" rtlCol="0" anchor="ctr"/>
          <a:lstStyle/>
          <a:p>
            <a:pPr algn="ctr" indent="0" marL="0">
              <a:buNone/>
            </a:pPr>
            <a:r>
              <a:rPr lang="en-US" sz="900" b="1" dirty="0">
                <a:solidFill>
                  <a:srgbClr val="1B2A4A"/>
                </a:solidFill>
                <a:latin typeface="Arial" pitchFamily="34" charset="0"/>
                <a:ea typeface="Arial" pitchFamily="34" charset="-122"/>
                <a:cs typeface="Arial" pitchFamily="34" charset="-120"/>
              </a:rPr>
              <a:t>BOA Grand National finalist</a:t>
            </a:r>
            <a:endParaRPr lang="en-US" sz="900" dirty="0"/>
          </a:p>
        </p:txBody>
      </p:sp>
      <p:sp>
        <p:nvSpPr>
          <p:cNvPr id="7" name="Text 5"/>
          <p:cNvSpPr txBox="1"/>
          <p:nvPr/>
        </p:nvSpPr>
        <p:spPr>
          <a:xfrm>
            <a:off x="4663440" y="1115568"/>
            <a:ext cx="1097280" cy="237744"/>
          </a:xfrm>
          <a:prstGeom prst="roundRect">
            <a:avLst>
              <a:gd name="adj" fmla="val 53846"/>
            </a:avLst>
          </a:prstGeom>
          <a:solidFill>
            <a:srgbClr val="E6E2D8"/>
          </a:solidFill>
          <a:ln/>
        </p:spPr>
        <p:txBody>
          <a:bodyPr wrap="square" lIns="0" tIns="0" rIns="0" bIns="0" rtlCol="0" anchor="ctr"/>
          <a:lstStyle/>
          <a:p>
            <a:pPr algn="ctr" indent="0" marL="0">
              <a:buNone/>
            </a:pPr>
            <a:r>
              <a:rPr lang="en-US" sz="900" b="1" dirty="0">
                <a:solidFill>
                  <a:srgbClr val="5B6478"/>
                </a:solidFill>
                <a:latin typeface="Arial" pitchFamily="34" charset="0"/>
                <a:ea typeface="Arial" pitchFamily="34" charset="-122"/>
                <a:cs typeface="Arial" pitchFamily="34" charset="-120"/>
              </a:rPr>
              <a:t>Other parade</a:t>
            </a:r>
            <a:endParaRPr lang="en-US" sz="900" dirty="0"/>
          </a:p>
        </p:txBody>
      </p:sp>
      <p:sp>
        <p:nvSpPr>
          <p:cNvPr id="8" name="Shape 6"/>
          <p:cNvSpPr/>
          <p:nvPr/>
        </p:nvSpPr>
        <p:spPr>
          <a:xfrm>
            <a:off x="548640" y="1481328"/>
            <a:ext cx="2130552" cy="2359152"/>
          </a:xfrm>
          <a:prstGeom prst="rect">
            <a:avLst/>
          </a:prstGeom>
          <a:solidFill>
            <a:srgbClr val="FFFDF8"/>
          </a:solidFill>
          <a:ln w="9525">
            <a:solidFill>
              <a:srgbClr val="DAD3C6"/>
            </a:solidFill>
            <a:prstDash val="solid"/>
          </a:ln>
        </p:spPr>
      </p:sp>
      <p:sp>
        <p:nvSpPr>
          <p:cNvPr id="9" name="Text 7"/>
          <p:cNvSpPr txBox="1"/>
          <p:nvPr/>
        </p:nvSpPr>
        <p:spPr>
          <a:xfrm>
            <a:off x="676656" y="1554480"/>
            <a:ext cx="731520" cy="384048"/>
          </a:xfrm>
          <a:prstGeom prst="rect">
            <a:avLst/>
          </a:prstGeom>
          <a:noFill/>
          <a:ln/>
        </p:spPr>
        <p:txBody>
          <a:bodyPr wrap="square" lIns="0" tIns="0" rIns="0" bIns="0" rtlCol="0" anchor="b"/>
          <a:lstStyle/>
          <a:p>
            <a:pPr indent="0" marL="0">
              <a:buNone/>
            </a:pPr>
            <a:r>
              <a:rPr lang="en-US" sz="2400" b="1" dirty="0">
                <a:solidFill>
                  <a:srgbClr val="B8862B"/>
                </a:solidFill>
                <a:latin typeface="Arial" pitchFamily="34" charset="0"/>
                <a:ea typeface="Arial" pitchFamily="34" charset="-122"/>
                <a:cs typeface="Arial" pitchFamily="34" charset="-120"/>
              </a:rPr>
              <a:t>1</a:t>
            </a:r>
            <a:endParaRPr lang="en-US" sz="2400" dirty="0"/>
          </a:p>
        </p:txBody>
      </p:sp>
      <p:sp>
        <p:nvSpPr>
          <p:cNvPr id="10" name="Text 8"/>
          <p:cNvSpPr txBox="1"/>
          <p:nvPr/>
        </p:nvSpPr>
        <p:spPr>
          <a:xfrm>
            <a:off x="1856232" y="1554480"/>
            <a:ext cx="694944" cy="384048"/>
          </a:xfrm>
          <a:prstGeom prst="rect">
            <a:avLst/>
          </a:prstGeom>
          <a:noFill/>
          <a:ln/>
        </p:spPr>
        <p:txBody>
          <a:bodyPr wrap="square" lIns="0" tIns="0" rIns="0" bIns="0" rtlCol="0" anchor="b"/>
          <a:lstStyle/>
          <a:p>
            <a:pPr algn="r" indent="0" marL="0">
              <a:buNone/>
            </a:pPr>
            <a:r>
              <a:rPr lang="en-US" sz="1800" b="1" dirty="0">
                <a:solidFill>
                  <a:srgbClr val="1B2A4A"/>
                </a:solidFill>
                <a:latin typeface="Arial" pitchFamily="34" charset="0"/>
                <a:ea typeface="Arial" pitchFamily="34" charset="-122"/>
                <a:cs typeface="Arial" pitchFamily="34" charset="-120"/>
              </a:rPr>
              <a:t>95</a:t>
            </a:r>
            <a:endParaRPr lang="en-US" sz="1800" dirty="0"/>
          </a:p>
        </p:txBody>
      </p:sp>
      <p:sp>
        <p:nvSpPr>
          <p:cNvPr id="11" name="Text 9"/>
          <p:cNvSpPr txBox="1"/>
          <p:nvPr/>
        </p:nvSpPr>
        <p:spPr>
          <a:xfrm>
            <a:off x="676656" y="1984248"/>
            <a:ext cx="1874520" cy="457200"/>
          </a:xfrm>
          <a:prstGeom prst="rect">
            <a:avLst/>
          </a:prstGeom>
          <a:noFill/>
          <a:ln/>
        </p:spPr>
        <p:txBody>
          <a:bodyPr wrap="square" lIns="0" tIns="0" rIns="0" bIns="0" rtlCol="0" anchor="t"/>
          <a:lstStyle/>
          <a:p>
            <a:pPr indent="0" marL="0">
              <a:buNone/>
            </a:pPr>
            <a:r>
              <a:rPr lang="en-US" sz="1300" b="1" dirty="0">
                <a:solidFill>
                  <a:srgbClr val="1B2A4A"/>
                </a:solidFill>
                <a:latin typeface="Arial" pitchFamily="34" charset="0"/>
                <a:ea typeface="Arial" pitchFamily="34" charset="-122"/>
                <a:cs typeface="Arial" pitchFamily="34" charset="-120"/>
              </a:rPr>
              <a:t>Dobyns-Bennett High School</a:t>
            </a:r>
            <a:endParaRPr lang="en-US" sz="1300" dirty="0"/>
          </a:p>
        </p:txBody>
      </p:sp>
      <p:sp>
        <p:nvSpPr>
          <p:cNvPr id="12" name="Text 10"/>
          <p:cNvSpPr txBox="1"/>
          <p:nvPr/>
        </p:nvSpPr>
        <p:spPr>
          <a:xfrm>
            <a:off x="676656" y="2414016"/>
            <a:ext cx="1874520" cy="219456"/>
          </a:xfrm>
          <a:prstGeom prst="rect">
            <a:avLst/>
          </a:prstGeom>
          <a:noFill/>
          <a:ln/>
        </p:spPr>
        <p:txBody>
          <a:bodyPr wrap="square" lIns="0" tIns="0" rIns="0" bIns="0" rtlCol="0" anchor="t"/>
          <a:lstStyle/>
          <a:p>
            <a:pPr indent="0" marL="0">
              <a:buNone/>
            </a:pPr>
            <a:r>
              <a:rPr lang="en-US" sz="900" dirty="0">
                <a:solidFill>
                  <a:srgbClr val="5B6478"/>
                </a:solidFill>
                <a:latin typeface="Arial" pitchFamily="34" charset="0"/>
                <a:ea typeface="Arial" pitchFamily="34" charset="-122"/>
                <a:cs typeface="Arial" pitchFamily="34" charset="-120"/>
              </a:rPr>
              <a:t>Kingsport, TN · 2,351 students</a:t>
            </a:r>
            <a:endParaRPr lang="en-US" sz="900" dirty="0"/>
          </a:p>
        </p:txBody>
      </p:sp>
      <p:sp>
        <p:nvSpPr>
          <p:cNvPr id="13" name="Text 11"/>
          <p:cNvSpPr txBox="1"/>
          <p:nvPr/>
        </p:nvSpPr>
        <p:spPr>
          <a:xfrm>
            <a:off x="676656" y="2651760"/>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2018</a:t>
            </a:r>
            <a:endParaRPr lang="en-US" sz="750" dirty="0"/>
          </a:p>
        </p:txBody>
      </p:sp>
      <p:sp>
        <p:nvSpPr>
          <p:cNvPr id="14" name="Text 12"/>
          <p:cNvSpPr txBox="1"/>
          <p:nvPr/>
        </p:nvSpPr>
        <p:spPr>
          <a:xfrm>
            <a:off x="1260043" y="2651760"/>
            <a:ext cx="588874" cy="201168"/>
          </a:xfrm>
          <a:prstGeom prst="roundRect">
            <a:avLst>
              <a:gd name="adj" fmla="val 50000"/>
            </a:avLst>
          </a:prstGeom>
          <a:solidFill>
            <a:srgbClr val="F1E5CC"/>
          </a:solidFill>
          <a:ln/>
        </p:spPr>
        <p:txBody>
          <a:bodyPr wrap="square" lIns="0" tIns="0" rIns="0" bIns="0" rtlCol="0" anchor="ctr"/>
          <a:lstStyle/>
          <a:p>
            <a:pPr algn="ctr" indent="0" marL="0">
              <a:buNone/>
            </a:pPr>
            <a:r>
              <a:rPr lang="en-US" sz="750" b="1" dirty="0">
                <a:solidFill>
                  <a:srgbClr val="7A5A15"/>
                </a:solidFill>
                <a:latin typeface="Arial" pitchFamily="34" charset="0"/>
                <a:ea typeface="Arial" pitchFamily="34" charset="-122"/>
                <a:cs typeface="Arial" pitchFamily="34" charset="-120"/>
              </a:rPr>
              <a:t>Rose 2020</a:t>
            </a:r>
            <a:endParaRPr lang="en-US" sz="750" dirty="0"/>
          </a:p>
        </p:txBody>
      </p:sp>
      <p:sp>
        <p:nvSpPr>
          <p:cNvPr id="15" name="Text 13"/>
          <p:cNvSpPr txBox="1"/>
          <p:nvPr/>
        </p:nvSpPr>
        <p:spPr>
          <a:xfrm>
            <a:off x="1894637" y="2651760"/>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2021</a:t>
            </a:r>
            <a:endParaRPr lang="en-US" sz="750" dirty="0"/>
          </a:p>
        </p:txBody>
      </p:sp>
      <p:sp>
        <p:nvSpPr>
          <p:cNvPr id="16" name="Text 14"/>
          <p:cNvSpPr txBox="1"/>
          <p:nvPr/>
        </p:nvSpPr>
        <p:spPr>
          <a:xfrm>
            <a:off x="676656" y="287578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2022</a:t>
            </a:r>
            <a:endParaRPr lang="en-US" sz="750" dirty="0"/>
          </a:p>
        </p:txBody>
      </p:sp>
      <p:sp>
        <p:nvSpPr>
          <p:cNvPr id="17" name="Text 15"/>
          <p:cNvSpPr txBox="1"/>
          <p:nvPr/>
        </p:nvSpPr>
        <p:spPr>
          <a:xfrm>
            <a:off x="1260043" y="287578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2024</a:t>
            </a:r>
            <a:endParaRPr lang="en-US" sz="750" dirty="0"/>
          </a:p>
        </p:txBody>
      </p:sp>
      <p:sp>
        <p:nvSpPr>
          <p:cNvPr id="18" name="Text 16"/>
          <p:cNvSpPr txBox="1"/>
          <p:nvPr/>
        </p:nvSpPr>
        <p:spPr>
          <a:xfrm>
            <a:off x="1843430" y="2875788"/>
            <a:ext cx="691286" cy="201168"/>
          </a:xfrm>
          <a:prstGeom prst="roundRect">
            <a:avLst>
              <a:gd name="adj" fmla="val 50000"/>
            </a:avLst>
          </a:prstGeom>
          <a:solidFill>
            <a:srgbClr val="E8DDEC"/>
          </a:solidFill>
          <a:ln/>
        </p:spPr>
        <p:txBody>
          <a:bodyPr wrap="square" lIns="0" tIns="0" rIns="0" bIns="0" rtlCol="0" anchor="ctr"/>
          <a:lstStyle/>
          <a:p>
            <a:pPr algn="ctr" indent="0" marL="0">
              <a:buNone/>
            </a:pPr>
            <a:r>
              <a:rPr lang="en-US" sz="750" b="1" dirty="0">
                <a:solidFill>
                  <a:srgbClr val="4A2F6B"/>
                </a:solidFill>
                <a:latin typeface="Arial" pitchFamily="34" charset="0"/>
                <a:ea typeface="Arial" pitchFamily="34" charset="-122"/>
                <a:cs typeface="Arial" pitchFamily="34" charset="-120"/>
              </a:rPr>
              <a:t>Macy's 2026</a:t>
            </a:r>
            <a:endParaRPr lang="en-US" sz="750" dirty="0"/>
          </a:p>
        </p:txBody>
      </p:sp>
      <p:sp>
        <p:nvSpPr>
          <p:cNvPr id="19" name="Text 17"/>
          <p:cNvSpPr txBox="1"/>
          <p:nvPr/>
        </p:nvSpPr>
        <p:spPr>
          <a:xfrm>
            <a:off x="676656" y="3273552"/>
            <a:ext cx="1874520" cy="502920"/>
          </a:xfrm>
          <a:prstGeom prst="rect">
            <a:avLst/>
          </a:prstGeom>
          <a:noFill/>
          <a:ln/>
        </p:spPr>
        <p:txBody>
          <a:bodyPr wrap="square" lIns="0" tIns="0" rIns="0" bIns="0" rtlCol="0" anchor="b"/>
          <a:lstStyle/>
          <a:p>
            <a:pPr indent="0" marL="0">
              <a:buNone/>
            </a:pPr>
            <a:r>
              <a:rPr lang="en-US" sz="950" dirty="0">
                <a:solidFill>
                  <a:srgbClr val="1B2A4A"/>
                </a:solidFill>
                <a:latin typeface="Cambria" pitchFamily="34" charset="0"/>
                <a:ea typeface="Cambria" pitchFamily="34" charset="-122"/>
                <a:cs typeface="Cambria" pitchFamily="34" charset="-120"/>
              </a:rPr>
              <a:t>Four Grand National finals, a Rose Parade, and Macy's this November.</a:t>
            </a:r>
            <a:endParaRPr lang="en-US" sz="950" dirty="0"/>
          </a:p>
        </p:txBody>
      </p:sp>
      <p:sp>
        <p:nvSpPr>
          <p:cNvPr id="20" name="Shape 18"/>
          <p:cNvSpPr/>
          <p:nvPr/>
        </p:nvSpPr>
        <p:spPr>
          <a:xfrm>
            <a:off x="2807208" y="1481328"/>
            <a:ext cx="2130552" cy="2359152"/>
          </a:xfrm>
          <a:prstGeom prst="rect">
            <a:avLst/>
          </a:prstGeom>
          <a:solidFill>
            <a:srgbClr val="FFFDF8"/>
          </a:solidFill>
          <a:ln w="9525">
            <a:solidFill>
              <a:srgbClr val="DAD3C6"/>
            </a:solidFill>
            <a:prstDash val="solid"/>
          </a:ln>
        </p:spPr>
      </p:sp>
      <p:sp>
        <p:nvSpPr>
          <p:cNvPr id="21" name="Text 19"/>
          <p:cNvSpPr txBox="1"/>
          <p:nvPr/>
        </p:nvSpPr>
        <p:spPr>
          <a:xfrm>
            <a:off x="2935224" y="1554480"/>
            <a:ext cx="731520" cy="384048"/>
          </a:xfrm>
          <a:prstGeom prst="rect">
            <a:avLst/>
          </a:prstGeom>
          <a:noFill/>
          <a:ln/>
        </p:spPr>
        <p:txBody>
          <a:bodyPr wrap="square" lIns="0" tIns="0" rIns="0" bIns="0" rtlCol="0" anchor="b"/>
          <a:lstStyle/>
          <a:p>
            <a:pPr indent="0" marL="0">
              <a:buNone/>
            </a:pPr>
            <a:r>
              <a:rPr lang="en-US" sz="2400" b="1" dirty="0">
                <a:solidFill>
                  <a:srgbClr val="B8862B"/>
                </a:solidFill>
                <a:latin typeface="Arial" pitchFamily="34" charset="0"/>
                <a:ea typeface="Arial" pitchFamily="34" charset="-122"/>
                <a:cs typeface="Arial" pitchFamily="34" charset="-120"/>
              </a:rPr>
              <a:t>2</a:t>
            </a:r>
            <a:endParaRPr lang="en-US" sz="2400" dirty="0"/>
          </a:p>
        </p:txBody>
      </p:sp>
      <p:sp>
        <p:nvSpPr>
          <p:cNvPr id="22" name="Text 20"/>
          <p:cNvSpPr txBox="1"/>
          <p:nvPr/>
        </p:nvSpPr>
        <p:spPr>
          <a:xfrm>
            <a:off x="4114800" y="1554480"/>
            <a:ext cx="694944" cy="384048"/>
          </a:xfrm>
          <a:prstGeom prst="rect">
            <a:avLst/>
          </a:prstGeom>
          <a:noFill/>
          <a:ln/>
        </p:spPr>
        <p:txBody>
          <a:bodyPr wrap="square" lIns="0" tIns="0" rIns="0" bIns="0" rtlCol="0" anchor="b"/>
          <a:lstStyle/>
          <a:p>
            <a:pPr algn="r" indent="0" marL="0">
              <a:buNone/>
            </a:pPr>
            <a:r>
              <a:rPr lang="en-US" sz="1800" b="1" dirty="0">
                <a:solidFill>
                  <a:srgbClr val="1B2A4A"/>
                </a:solidFill>
                <a:latin typeface="Arial" pitchFamily="34" charset="0"/>
                <a:ea typeface="Arial" pitchFamily="34" charset="-122"/>
                <a:cs typeface="Arial" pitchFamily="34" charset="-120"/>
              </a:rPr>
              <a:t>85</a:t>
            </a:r>
            <a:endParaRPr lang="en-US" sz="1800" dirty="0"/>
          </a:p>
        </p:txBody>
      </p:sp>
      <p:sp>
        <p:nvSpPr>
          <p:cNvPr id="23" name="Text 21"/>
          <p:cNvSpPr txBox="1"/>
          <p:nvPr/>
        </p:nvSpPr>
        <p:spPr>
          <a:xfrm>
            <a:off x="2935224" y="1984248"/>
            <a:ext cx="1874520" cy="457200"/>
          </a:xfrm>
          <a:prstGeom prst="rect">
            <a:avLst/>
          </a:prstGeom>
          <a:noFill/>
          <a:ln/>
        </p:spPr>
        <p:txBody>
          <a:bodyPr wrap="square" lIns="0" tIns="0" rIns="0" bIns="0" rtlCol="0" anchor="t"/>
          <a:lstStyle/>
          <a:p>
            <a:pPr indent="0" marL="0">
              <a:buNone/>
            </a:pPr>
            <a:r>
              <a:rPr lang="en-US" sz="1300" b="1" dirty="0">
                <a:solidFill>
                  <a:srgbClr val="1B2A4A"/>
                </a:solidFill>
                <a:latin typeface="Arial" pitchFamily="34" charset="0"/>
                <a:ea typeface="Arial" pitchFamily="34" charset="-122"/>
                <a:cs typeface="Arial" pitchFamily="34" charset="-120"/>
              </a:rPr>
              <a:t>Blue Springs High School</a:t>
            </a:r>
            <a:endParaRPr lang="en-US" sz="1300" dirty="0"/>
          </a:p>
        </p:txBody>
      </p:sp>
      <p:sp>
        <p:nvSpPr>
          <p:cNvPr id="24" name="Text 22"/>
          <p:cNvSpPr txBox="1"/>
          <p:nvPr/>
        </p:nvSpPr>
        <p:spPr>
          <a:xfrm>
            <a:off x="2935224" y="2414016"/>
            <a:ext cx="1874520" cy="219456"/>
          </a:xfrm>
          <a:prstGeom prst="rect">
            <a:avLst/>
          </a:prstGeom>
          <a:noFill/>
          <a:ln/>
        </p:spPr>
        <p:txBody>
          <a:bodyPr wrap="square" lIns="0" tIns="0" rIns="0" bIns="0" rtlCol="0" anchor="t"/>
          <a:lstStyle/>
          <a:p>
            <a:pPr indent="0" marL="0">
              <a:buNone/>
            </a:pPr>
            <a:r>
              <a:rPr lang="en-US" sz="900" dirty="0">
                <a:solidFill>
                  <a:srgbClr val="5B6478"/>
                </a:solidFill>
                <a:latin typeface="Arial" pitchFamily="34" charset="0"/>
                <a:ea typeface="Arial" pitchFamily="34" charset="-122"/>
                <a:cs typeface="Arial" pitchFamily="34" charset="-120"/>
              </a:rPr>
              <a:t>Blue Springs, MO · 2,396 students</a:t>
            </a:r>
            <a:endParaRPr lang="en-US" sz="900" dirty="0"/>
          </a:p>
        </p:txBody>
      </p:sp>
      <p:sp>
        <p:nvSpPr>
          <p:cNvPr id="25" name="Text 23"/>
          <p:cNvSpPr txBox="1"/>
          <p:nvPr/>
        </p:nvSpPr>
        <p:spPr>
          <a:xfrm>
            <a:off x="2935224" y="2651760"/>
            <a:ext cx="588874" cy="201168"/>
          </a:xfrm>
          <a:prstGeom prst="roundRect">
            <a:avLst>
              <a:gd name="adj" fmla="val 50000"/>
            </a:avLst>
          </a:prstGeom>
          <a:solidFill>
            <a:srgbClr val="F1E5CC"/>
          </a:solidFill>
          <a:ln/>
        </p:spPr>
        <p:txBody>
          <a:bodyPr wrap="square" lIns="0" tIns="0" rIns="0" bIns="0" rtlCol="0" anchor="ctr"/>
          <a:lstStyle/>
          <a:p>
            <a:pPr algn="ctr" indent="0" marL="0">
              <a:buNone/>
            </a:pPr>
            <a:r>
              <a:rPr lang="en-US" sz="750" b="1" dirty="0">
                <a:solidFill>
                  <a:srgbClr val="7A5A15"/>
                </a:solidFill>
                <a:latin typeface="Arial" pitchFamily="34" charset="0"/>
                <a:ea typeface="Arial" pitchFamily="34" charset="-122"/>
                <a:cs typeface="Arial" pitchFamily="34" charset="-120"/>
              </a:rPr>
              <a:t>Rose 2015</a:t>
            </a:r>
            <a:endParaRPr lang="en-US" sz="750" dirty="0"/>
          </a:p>
        </p:txBody>
      </p:sp>
      <p:sp>
        <p:nvSpPr>
          <p:cNvPr id="26" name="Text 24"/>
          <p:cNvSpPr txBox="1"/>
          <p:nvPr/>
        </p:nvSpPr>
        <p:spPr>
          <a:xfrm>
            <a:off x="3569818" y="2651760"/>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2018</a:t>
            </a:r>
            <a:endParaRPr lang="en-US" sz="750" dirty="0"/>
          </a:p>
        </p:txBody>
      </p:sp>
      <p:sp>
        <p:nvSpPr>
          <p:cNvPr id="27" name="Text 25"/>
          <p:cNvSpPr txBox="1"/>
          <p:nvPr/>
        </p:nvSpPr>
        <p:spPr>
          <a:xfrm>
            <a:off x="4153205" y="2651760"/>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2021</a:t>
            </a:r>
            <a:endParaRPr lang="en-US" sz="750" dirty="0"/>
          </a:p>
        </p:txBody>
      </p:sp>
      <p:sp>
        <p:nvSpPr>
          <p:cNvPr id="28" name="Text 26"/>
          <p:cNvSpPr txBox="1"/>
          <p:nvPr/>
        </p:nvSpPr>
        <p:spPr>
          <a:xfrm>
            <a:off x="2935224" y="287578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2023</a:t>
            </a:r>
            <a:endParaRPr lang="en-US" sz="750" dirty="0"/>
          </a:p>
        </p:txBody>
      </p:sp>
      <p:sp>
        <p:nvSpPr>
          <p:cNvPr id="29" name="Text 27"/>
          <p:cNvSpPr txBox="1"/>
          <p:nvPr/>
        </p:nvSpPr>
        <p:spPr>
          <a:xfrm>
            <a:off x="3518611" y="287578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2025</a:t>
            </a:r>
            <a:endParaRPr lang="en-US" sz="750" dirty="0"/>
          </a:p>
        </p:txBody>
      </p:sp>
      <p:sp>
        <p:nvSpPr>
          <p:cNvPr id="30" name="Text 28"/>
          <p:cNvSpPr txBox="1"/>
          <p:nvPr/>
        </p:nvSpPr>
        <p:spPr>
          <a:xfrm>
            <a:off x="4101998" y="2875788"/>
            <a:ext cx="588874" cy="201168"/>
          </a:xfrm>
          <a:prstGeom prst="roundRect">
            <a:avLst>
              <a:gd name="adj" fmla="val 50000"/>
            </a:avLst>
          </a:prstGeom>
          <a:solidFill>
            <a:srgbClr val="F1E5CC"/>
          </a:solidFill>
          <a:ln/>
        </p:spPr>
        <p:txBody>
          <a:bodyPr wrap="square" lIns="0" tIns="0" rIns="0" bIns="0" rtlCol="0" anchor="ctr"/>
          <a:lstStyle/>
          <a:p>
            <a:pPr algn="ctr" indent="0" marL="0">
              <a:buNone/>
            </a:pPr>
            <a:r>
              <a:rPr lang="en-US" sz="750" b="1" dirty="0">
                <a:solidFill>
                  <a:srgbClr val="7A5A15"/>
                </a:solidFill>
                <a:latin typeface="Arial" pitchFamily="34" charset="0"/>
                <a:ea typeface="Arial" pitchFamily="34" charset="-122"/>
                <a:cs typeface="Arial" pitchFamily="34" charset="-120"/>
              </a:rPr>
              <a:t>Rose 2027</a:t>
            </a:r>
            <a:endParaRPr lang="en-US" sz="750" dirty="0"/>
          </a:p>
        </p:txBody>
      </p:sp>
      <p:sp>
        <p:nvSpPr>
          <p:cNvPr id="31" name="Text 29"/>
          <p:cNvSpPr txBox="1"/>
          <p:nvPr/>
        </p:nvSpPr>
        <p:spPr>
          <a:xfrm>
            <a:off x="2935224" y="3273552"/>
            <a:ext cx="1874520" cy="502920"/>
          </a:xfrm>
          <a:prstGeom prst="rect">
            <a:avLst/>
          </a:prstGeom>
          <a:noFill/>
          <a:ln/>
        </p:spPr>
        <p:txBody>
          <a:bodyPr wrap="square" lIns="0" tIns="0" rIns="0" bIns="0" rtlCol="0" anchor="b"/>
          <a:lstStyle/>
          <a:p>
            <a:pPr indent="0" marL="0">
              <a:buNone/>
            </a:pPr>
            <a:r>
              <a:rPr lang="en-US" sz="950" dirty="0">
                <a:solidFill>
                  <a:srgbClr val="1B2A4A"/>
                </a:solidFill>
                <a:latin typeface="Cambria" pitchFamily="34" charset="0"/>
                <a:ea typeface="Cambria" pitchFamily="34" charset="-122"/>
                <a:cs typeface="Cambria" pitchFamily="34" charset="-120"/>
              </a:rPr>
              <a:t>Already invited back to Pasadena for 2027.</a:t>
            </a:r>
            <a:endParaRPr lang="en-US" sz="950" dirty="0"/>
          </a:p>
        </p:txBody>
      </p:sp>
      <p:sp>
        <p:nvSpPr>
          <p:cNvPr id="32" name="Shape 30"/>
          <p:cNvSpPr/>
          <p:nvPr/>
        </p:nvSpPr>
        <p:spPr>
          <a:xfrm>
            <a:off x="5065776" y="1481328"/>
            <a:ext cx="2130552" cy="2359152"/>
          </a:xfrm>
          <a:prstGeom prst="rect">
            <a:avLst/>
          </a:prstGeom>
          <a:solidFill>
            <a:srgbClr val="FFFDF8"/>
          </a:solidFill>
          <a:ln w="9525">
            <a:solidFill>
              <a:srgbClr val="DAD3C6"/>
            </a:solidFill>
            <a:prstDash val="solid"/>
          </a:ln>
        </p:spPr>
      </p:sp>
      <p:sp>
        <p:nvSpPr>
          <p:cNvPr id="33" name="Text 31"/>
          <p:cNvSpPr txBox="1"/>
          <p:nvPr/>
        </p:nvSpPr>
        <p:spPr>
          <a:xfrm>
            <a:off x="5193792" y="1554480"/>
            <a:ext cx="731520" cy="384048"/>
          </a:xfrm>
          <a:prstGeom prst="rect">
            <a:avLst/>
          </a:prstGeom>
          <a:noFill/>
          <a:ln/>
        </p:spPr>
        <p:txBody>
          <a:bodyPr wrap="square" lIns="0" tIns="0" rIns="0" bIns="0" rtlCol="0" anchor="b"/>
          <a:lstStyle/>
          <a:p>
            <a:pPr indent="0" marL="0">
              <a:buNone/>
            </a:pPr>
            <a:r>
              <a:rPr lang="en-US" sz="2400" b="1" dirty="0">
                <a:solidFill>
                  <a:srgbClr val="B8862B"/>
                </a:solidFill>
                <a:latin typeface="Arial" pitchFamily="34" charset="0"/>
                <a:ea typeface="Arial" pitchFamily="34" charset="-122"/>
                <a:cs typeface="Arial" pitchFamily="34" charset="-120"/>
              </a:rPr>
              <a:t>3</a:t>
            </a:r>
            <a:endParaRPr lang="en-US" sz="2400" dirty="0"/>
          </a:p>
        </p:txBody>
      </p:sp>
      <p:sp>
        <p:nvSpPr>
          <p:cNvPr id="34" name="Text 32"/>
          <p:cNvSpPr txBox="1"/>
          <p:nvPr/>
        </p:nvSpPr>
        <p:spPr>
          <a:xfrm>
            <a:off x="6373368" y="1554480"/>
            <a:ext cx="694944" cy="384048"/>
          </a:xfrm>
          <a:prstGeom prst="rect">
            <a:avLst/>
          </a:prstGeom>
          <a:noFill/>
          <a:ln/>
        </p:spPr>
        <p:txBody>
          <a:bodyPr wrap="square" lIns="0" tIns="0" rIns="0" bIns="0" rtlCol="0" anchor="b"/>
          <a:lstStyle/>
          <a:p>
            <a:pPr algn="r" indent="0" marL="0">
              <a:buNone/>
            </a:pPr>
            <a:r>
              <a:rPr lang="en-US" sz="1800" b="1" dirty="0">
                <a:solidFill>
                  <a:srgbClr val="1B2A4A"/>
                </a:solidFill>
                <a:latin typeface="Arial" pitchFamily="34" charset="0"/>
                <a:ea typeface="Arial" pitchFamily="34" charset="-122"/>
                <a:cs typeface="Arial" pitchFamily="34" charset="-120"/>
              </a:rPr>
              <a:t>85</a:t>
            </a:r>
            <a:endParaRPr lang="en-US" sz="1800" dirty="0"/>
          </a:p>
        </p:txBody>
      </p:sp>
      <p:sp>
        <p:nvSpPr>
          <p:cNvPr id="35" name="Text 33"/>
          <p:cNvSpPr txBox="1"/>
          <p:nvPr/>
        </p:nvSpPr>
        <p:spPr>
          <a:xfrm>
            <a:off x="5193792" y="1984248"/>
            <a:ext cx="1874520" cy="457200"/>
          </a:xfrm>
          <a:prstGeom prst="rect">
            <a:avLst/>
          </a:prstGeom>
          <a:noFill/>
          <a:ln/>
        </p:spPr>
        <p:txBody>
          <a:bodyPr wrap="square" lIns="0" tIns="0" rIns="0" bIns="0" rtlCol="0" anchor="t"/>
          <a:lstStyle/>
          <a:p>
            <a:pPr indent="0" marL="0">
              <a:buNone/>
            </a:pPr>
            <a:r>
              <a:rPr lang="en-US" sz="1300" b="1" dirty="0">
                <a:solidFill>
                  <a:srgbClr val="1B2A4A"/>
                </a:solidFill>
                <a:latin typeface="Arial" pitchFamily="34" charset="0"/>
                <a:ea typeface="Arial" pitchFamily="34" charset="-122"/>
                <a:cs typeface="Arial" pitchFamily="34" charset="-120"/>
              </a:rPr>
              <a:t>Broken Arrow High School</a:t>
            </a:r>
            <a:endParaRPr lang="en-US" sz="1300" dirty="0"/>
          </a:p>
        </p:txBody>
      </p:sp>
      <p:sp>
        <p:nvSpPr>
          <p:cNvPr id="36" name="Text 34"/>
          <p:cNvSpPr txBox="1"/>
          <p:nvPr/>
        </p:nvSpPr>
        <p:spPr>
          <a:xfrm>
            <a:off x="5193792" y="2414016"/>
            <a:ext cx="1874520" cy="219456"/>
          </a:xfrm>
          <a:prstGeom prst="rect">
            <a:avLst/>
          </a:prstGeom>
          <a:noFill/>
          <a:ln/>
        </p:spPr>
        <p:txBody>
          <a:bodyPr wrap="square" lIns="0" tIns="0" rIns="0" bIns="0" rtlCol="0" anchor="t"/>
          <a:lstStyle/>
          <a:p>
            <a:pPr indent="0" marL="0">
              <a:buNone/>
            </a:pPr>
            <a:r>
              <a:rPr lang="en-US" sz="900" dirty="0">
                <a:solidFill>
                  <a:srgbClr val="5B6478"/>
                </a:solidFill>
                <a:latin typeface="Arial" pitchFamily="34" charset="0"/>
                <a:ea typeface="Arial" pitchFamily="34" charset="-122"/>
                <a:cs typeface="Arial" pitchFamily="34" charset="-120"/>
              </a:rPr>
              <a:t>Broken Arrow, OK · 4,672 students</a:t>
            </a:r>
            <a:endParaRPr lang="en-US" sz="900" dirty="0"/>
          </a:p>
        </p:txBody>
      </p:sp>
      <p:sp>
        <p:nvSpPr>
          <p:cNvPr id="37" name="Text 35"/>
          <p:cNvSpPr txBox="1"/>
          <p:nvPr/>
        </p:nvSpPr>
        <p:spPr>
          <a:xfrm>
            <a:off x="5193792" y="2651760"/>
            <a:ext cx="588874" cy="201168"/>
          </a:xfrm>
          <a:prstGeom prst="roundRect">
            <a:avLst>
              <a:gd name="adj" fmla="val 50000"/>
            </a:avLst>
          </a:prstGeom>
          <a:solidFill>
            <a:srgbClr val="F1E5CC"/>
          </a:solidFill>
          <a:ln/>
        </p:spPr>
        <p:txBody>
          <a:bodyPr wrap="square" lIns="0" tIns="0" rIns="0" bIns="0" rtlCol="0" anchor="ctr"/>
          <a:lstStyle/>
          <a:p>
            <a:pPr algn="ctr" indent="0" marL="0">
              <a:buNone/>
            </a:pPr>
            <a:r>
              <a:rPr lang="en-US" sz="750" b="1" dirty="0">
                <a:solidFill>
                  <a:srgbClr val="7A5A15"/>
                </a:solidFill>
                <a:latin typeface="Arial" pitchFamily="34" charset="0"/>
                <a:ea typeface="Arial" pitchFamily="34" charset="-122"/>
                <a:cs typeface="Arial" pitchFamily="34" charset="-120"/>
              </a:rPr>
              <a:t>Rose 2017</a:t>
            </a:r>
            <a:endParaRPr lang="en-US" sz="750" dirty="0"/>
          </a:p>
        </p:txBody>
      </p:sp>
      <p:sp>
        <p:nvSpPr>
          <p:cNvPr id="38" name="Text 36"/>
          <p:cNvSpPr txBox="1"/>
          <p:nvPr/>
        </p:nvSpPr>
        <p:spPr>
          <a:xfrm>
            <a:off x="5828386" y="2651760"/>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2018</a:t>
            </a:r>
            <a:endParaRPr lang="en-US" sz="750" dirty="0"/>
          </a:p>
        </p:txBody>
      </p:sp>
      <p:sp>
        <p:nvSpPr>
          <p:cNvPr id="39" name="Text 37"/>
          <p:cNvSpPr txBox="1"/>
          <p:nvPr/>
        </p:nvSpPr>
        <p:spPr>
          <a:xfrm>
            <a:off x="6411773" y="2651760"/>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2021</a:t>
            </a:r>
            <a:endParaRPr lang="en-US" sz="750" dirty="0"/>
          </a:p>
        </p:txBody>
      </p:sp>
      <p:sp>
        <p:nvSpPr>
          <p:cNvPr id="40" name="Text 38"/>
          <p:cNvSpPr txBox="1"/>
          <p:nvPr/>
        </p:nvSpPr>
        <p:spPr>
          <a:xfrm>
            <a:off x="5193792" y="2875788"/>
            <a:ext cx="588874" cy="201168"/>
          </a:xfrm>
          <a:prstGeom prst="roundRect">
            <a:avLst>
              <a:gd name="adj" fmla="val 50000"/>
            </a:avLst>
          </a:prstGeom>
          <a:solidFill>
            <a:srgbClr val="F1E5CC"/>
          </a:solidFill>
          <a:ln/>
        </p:spPr>
        <p:txBody>
          <a:bodyPr wrap="square" lIns="0" tIns="0" rIns="0" bIns="0" rtlCol="0" anchor="ctr"/>
          <a:lstStyle/>
          <a:p>
            <a:pPr algn="ctr" indent="0" marL="0">
              <a:buNone/>
            </a:pPr>
            <a:r>
              <a:rPr lang="en-US" sz="750" b="1" dirty="0">
                <a:solidFill>
                  <a:srgbClr val="7A5A15"/>
                </a:solidFill>
                <a:latin typeface="Arial" pitchFamily="34" charset="0"/>
                <a:ea typeface="Arial" pitchFamily="34" charset="-122"/>
                <a:cs typeface="Arial" pitchFamily="34" charset="-120"/>
              </a:rPr>
              <a:t>Rose 2022</a:t>
            </a:r>
            <a:endParaRPr lang="en-US" sz="750" dirty="0"/>
          </a:p>
        </p:txBody>
      </p:sp>
      <p:sp>
        <p:nvSpPr>
          <p:cNvPr id="41" name="Text 39"/>
          <p:cNvSpPr txBox="1"/>
          <p:nvPr/>
        </p:nvSpPr>
        <p:spPr>
          <a:xfrm>
            <a:off x="5828386" y="287578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2022</a:t>
            </a:r>
            <a:endParaRPr lang="en-US" sz="750" dirty="0"/>
          </a:p>
        </p:txBody>
      </p:sp>
      <p:sp>
        <p:nvSpPr>
          <p:cNvPr id="42" name="Text 40"/>
          <p:cNvSpPr txBox="1"/>
          <p:nvPr/>
        </p:nvSpPr>
        <p:spPr>
          <a:xfrm>
            <a:off x="6411773" y="287578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2024</a:t>
            </a:r>
            <a:endParaRPr lang="en-US" sz="750" dirty="0"/>
          </a:p>
        </p:txBody>
      </p:sp>
      <p:sp>
        <p:nvSpPr>
          <p:cNvPr id="43" name="Text 41"/>
          <p:cNvSpPr txBox="1"/>
          <p:nvPr/>
        </p:nvSpPr>
        <p:spPr>
          <a:xfrm>
            <a:off x="5193792" y="3099816"/>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2025</a:t>
            </a:r>
            <a:endParaRPr lang="en-US" sz="750" dirty="0"/>
          </a:p>
        </p:txBody>
      </p:sp>
      <p:sp>
        <p:nvSpPr>
          <p:cNvPr id="44" name="Text 42"/>
          <p:cNvSpPr txBox="1"/>
          <p:nvPr/>
        </p:nvSpPr>
        <p:spPr>
          <a:xfrm>
            <a:off x="5193792" y="3273552"/>
            <a:ext cx="1874520" cy="502920"/>
          </a:xfrm>
          <a:prstGeom prst="rect">
            <a:avLst/>
          </a:prstGeom>
          <a:noFill/>
          <a:ln/>
        </p:spPr>
        <p:txBody>
          <a:bodyPr wrap="square" lIns="0" tIns="0" rIns="0" bIns="0" rtlCol="0" anchor="b"/>
          <a:lstStyle/>
          <a:p>
            <a:pPr indent="0" marL="0">
              <a:buNone/>
            </a:pPr>
            <a:r>
              <a:rPr lang="en-US" sz="950" dirty="0">
                <a:solidFill>
                  <a:srgbClr val="1B2A4A"/>
                </a:solidFill>
                <a:latin typeface="Cambria" pitchFamily="34" charset="0"/>
                <a:ea typeface="Cambria" pitchFamily="34" charset="-122"/>
                <a:cs typeface="Cambria" pitchFamily="34" charset="-120"/>
              </a:rPr>
              <a:t>Two Rose Parades and five Grand National finals since 2017.</a:t>
            </a:r>
            <a:endParaRPr lang="en-US" sz="950" dirty="0"/>
          </a:p>
        </p:txBody>
      </p:sp>
      <p:sp>
        <p:nvSpPr>
          <p:cNvPr id="45" name="Shape 43"/>
          <p:cNvSpPr/>
          <p:nvPr/>
        </p:nvSpPr>
        <p:spPr>
          <a:xfrm>
            <a:off x="7324344" y="1481328"/>
            <a:ext cx="2130552" cy="2359152"/>
          </a:xfrm>
          <a:prstGeom prst="rect">
            <a:avLst/>
          </a:prstGeom>
          <a:solidFill>
            <a:srgbClr val="FFFDF8"/>
          </a:solidFill>
          <a:ln w="9525">
            <a:solidFill>
              <a:srgbClr val="DAD3C6"/>
            </a:solidFill>
            <a:prstDash val="solid"/>
          </a:ln>
        </p:spPr>
      </p:sp>
      <p:sp>
        <p:nvSpPr>
          <p:cNvPr id="46" name="Text 44"/>
          <p:cNvSpPr txBox="1"/>
          <p:nvPr/>
        </p:nvSpPr>
        <p:spPr>
          <a:xfrm>
            <a:off x="7452360" y="1554480"/>
            <a:ext cx="731520" cy="384048"/>
          </a:xfrm>
          <a:prstGeom prst="rect">
            <a:avLst/>
          </a:prstGeom>
          <a:noFill/>
          <a:ln/>
        </p:spPr>
        <p:txBody>
          <a:bodyPr wrap="square" lIns="0" tIns="0" rIns="0" bIns="0" rtlCol="0" anchor="b"/>
          <a:lstStyle/>
          <a:p>
            <a:pPr indent="0" marL="0">
              <a:buNone/>
            </a:pPr>
            <a:r>
              <a:rPr lang="en-US" sz="2400" b="1" dirty="0">
                <a:solidFill>
                  <a:srgbClr val="B8862B"/>
                </a:solidFill>
                <a:latin typeface="Arial" pitchFamily="34" charset="0"/>
                <a:ea typeface="Arial" pitchFamily="34" charset="-122"/>
                <a:cs typeface="Arial" pitchFamily="34" charset="-120"/>
              </a:rPr>
              <a:t>4</a:t>
            </a:r>
            <a:endParaRPr lang="en-US" sz="2400" dirty="0"/>
          </a:p>
        </p:txBody>
      </p:sp>
      <p:sp>
        <p:nvSpPr>
          <p:cNvPr id="47" name="Text 45"/>
          <p:cNvSpPr txBox="1"/>
          <p:nvPr/>
        </p:nvSpPr>
        <p:spPr>
          <a:xfrm>
            <a:off x="8631936" y="1554480"/>
            <a:ext cx="694944" cy="384048"/>
          </a:xfrm>
          <a:prstGeom prst="rect">
            <a:avLst/>
          </a:prstGeom>
          <a:noFill/>
          <a:ln/>
        </p:spPr>
        <p:txBody>
          <a:bodyPr wrap="square" lIns="0" tIns="0" rIns="0" bIns="0" rtlCol="0" anchor="b"/>
          <a:lstStyle/>
          <a:p>
            <a:pPr algn="r" indent="0" marL="0">
              <a:buNone/>
            </a:pPr>
            <a:r>
              <a:rPr lang="en-US" sz="1800" b="1" dirty="0">
                <a:solidFill>
                  <a:srgbClr val="1B2A4A"/>
                </a:solidFill>
                <a:latin typeface="Arial" pitchFamily="34" charset="0"/>
                <a:ea typeface="Arial" pitchFamily="34" charset="-122"/>
                <a:cs typeface="Arial" pitchFamily="34" charset="-120"/>
              </a:rPr>
              <a:t>85</a:t>
            </a:r>
            <a:endParaRPr lang="en-US" sz="1800" dirty="0"/>
          </a:p>
        </p:txBody>
      </p:sp>
      <p:sp>
        <p:nvSpPr>
          <p:cNvPr id="48" name="Text 46"/>
          <p:cNvSpPr txBox="1"/>
          <p:nvPr/>
        </p:nvSpPr>
        <p:spPr>
          <a:xfrm>
            <a:off x="7452360" y="1984248"/>
            <a:ext cx="1874520" cy="457200"/>
          </a:xfrm>
          <a:prstGeom prst="rect">
            <a:avLst/>
          </a:prstGeom>
          <a:noFill/>
          <a:ln/>
        </p:spPr>
        <p:txBody>
          <a:bodyPr wrap="square" lIns="0" tIns="0" rIns="0" bIns="0" rtlCol="0" anchor="t"/>
          <a:lstStyle/>
          <a:p>
            <a:pPr indent="0" marL="0">
              <a:buNone/>
            </a:pPr>
            <a:r>
              <a:rPr lang="en-US" sz="1300" b="1" dirty="0">
                <a:solidFill>
                  <a:srgbClr val="1B2A4A"/>
                </a:solidFill>
                <a:latin typeface="Arial" pitchFamily="34" charset="0"/>
                <a:ea typeface="Arial" pitchFamily="34" charset="-122"/>
                <a:cs typeface="Arial" pitchFamily="34" charset="-120"/>
              </a:rPr>
              <a:t>Carmel High School</a:t>
            </a:r>
            <a:endParaRPr lang="en-US" sz="1300" dirty="0"/>
          </a:p>
        </p:txBody>
      </p:sp>
      <p:sp>
        <p:nvSpPr>
          <p:cNvPr id="49" name="Text 47"/>
          <p:cNvSpPr txBox="1"/>
          <p:nvPr/>
        </p:nvSpPr>
        <p:spPr>
          <a:xfrm>
            <a:off x="7452360" y="2414016"/>
            <a:ext cx="1874520" cy="219456"/>
          </a:xfrm>
          <a:prstGeom prst="rect">
            <a:avLst/>
          </a:prstGeom>
          <a:noFill/>
          <a:ln/>
        </p:spPr>
        <p:txBody>
          <a:bodyPr wrap="square" lIns="0" tIns="0" rIns="0" bIns="0" rtlCol="0" anchor="t"/>
          <a:lstStyle/>
          <a:p>
            <a:pPr indent="0" marL="0">
              <a:buNone/>
            </a:pPr>
            <a:r>
              <a:rPr lang="en-US" sz="900" dirty="0">
                <a:solidFill>
                  <a:srgbClr val="5B6478"/>
                </a:solidFill>
                <a:latin typeface="Arial" pitchFamily="34" charset="0"/>
                <a:ea typeface="Arial" pitchFamily="34" charset="-122"/>
                <a:cs typeface="Arial" pitchFamily="34" charset="-120"/>
              </a:rPr>
              <a:t>Carmel, IN · 5,200 students</a:t>
            </a:r>
            <a:endParaRPr lang="en-US" sz="900" dirty="0"/>
          </a:p>
        </p:txBody>
      </p:sp>
      <p:sp>
        <p:nvSpPr>
          <p:cNvPr id="50" name="Text 48"/>
          <p:cNvSpPr txBox="1"/>
          <p:nvPr/>
        </p:nvSpPr>
        <p:spPr>
          <a:xfrm>
            <a:off x="7452360" y="2651760"/>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2018</a:t>
            </a:r>
            <a:endParaRPr lang="en-US" sz="750" dirty="0"/>
          </a:p>
        </p:txBody>
      </p:sp>
      <p:sp>
        <p:nvSpPr>
          <p:cNvPr id="51" name="Text 49"/>
          <p:cNvSpPr txBox="1"/>
          <p:nvPr/>
        </p:nvSpPr>
        <p:spPr>
          <a:xfrm>
            <a:off x="8035747" y="2651760"/>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2019</a:t>
            </a:r>
            <a:endParaRPr lang="en-US" sz="750" dirty="0"/>
          </a:p>
        </p:txBody>
      </p:sp>
      <p:sp>
        <p:nvSpPr>
          <p:cNvPr id="52" name="Text 50"/>
          <p:cNvSpPr txBox="1"/>
          <p:nvPr/>
        </p:nvSpPr>
        <p:spPr>
          <a:xfrm>
            <a:off x="8619134" y="2651760"/>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2021</a:t>
            </a:r>
            <a:endParaRPr lang="en-US" sz="750" dirty="0"/>
          </a:p>
        </p:txBody>
      </p:sp>
      <p:sp>
        <p:nvSpPr>
          <p:cNvPr id="53" name="Text 51"/>
          <p:cNvSpPr txBox="1"/>
          <p:nvPr/>
        </p:nvSpPr>
        <p:spPr>
          <a:xfrm>
            <a:off x="7452360" y="287578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2022</a:t>
            </a:r>
            <a:endParaRPr lang="en-US" sz="750" dirty="0"/>
          </a:p>
        </p:txBody>
      </p:sp>
      <p:sp>
        <p:nvSpPr>
          <p:cNvPr id="54" name="Text 52"/>
          <p:cNvSpPr txBox="1"/>
          <p:nvPr/>
        </p:nvSpPr>
        <p:spPr>
          <a:xfrm>
            <a:off x="8035747" y="287578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2023</a:t>
            </a:r>
            <a:endParaRPr lang="en-US" sz="750" dirty="0"/>
          </a:p>
        </p:txBody>
      </p:sp>
      <p:sp>
        <p:nvSpPr>
          <p:cNvPr id="55" name="Text 53"/>
          <p:cNvSpPr txBox="1"/>
          <p:nvPr/>
        </p:nvSpPr>
        <p:spPr>
          <a:xfrm>
            <a:off x="8619134" y="287578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2024</a:t>
            </a:r>
            <a:endParaRPr lang="en-US" sz="750" dirty="0"/>
          </a:p>
        </p:txBody>
      </p:sp>
      <p:sp>
        <p:nvSpPr>
          <p:cNvPr id="56" name="Text 54"/>
          <p:cNvSpPr txBox="1"/>
          <p:nvPr/>
        </p:nvSpPr>
        <p:spPr>
          <a:xfrm>
            <a:off x="7452360" y="3099816"/>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2025</a:t>
            </a:r>
            <a:endParaRPr lang="en-US" sz="750" dirty="0"/>
          </a:p>
        </p:txBody>
      </p:sp>
      <p:sp>
        <p:nvSpPr>
          <p:cNvPr id="57" name="Text 55"/>
          <p:cNvSpPr txBox="1"/>
          <p:nvPr/>
        </p:nvSpPr>
        <p:spPr>
          <a:xfrm>
            <a:off x="8035747" y="3099816"/>
            <a:ext cx="588874" cy="201168"/>
          </a:xfrm>
          <a:prstGeom prst="roundRect">
            <a:avLst>
              <a:gd name="adj" fmla="val 50000"/>
            </a:avLst>
          </a:prstGeom>
          <a:solidFill>
            <a:srgbClr val="F1E5CC"/>
          </a:solidFill>
          <a:ln/>
        </p:spPr>
        <p:txBody>
          <a:bodyPr wrap="square" lIns="0" tIns="0" rIns="0" bIns="0" rtlCol="0" anchor="ctr"/>
          <a:lstStyle/>
          <a:p>
            <a:pPr algn="ctr" indent="0" marL="0">
              <a:buNone/>
            </a:pPr>
            <a:r>
              <a:rPr lang="en-US" sz="750" b="1" dirty="0">
                <a:solidFill>
                  <a:srgbClr val="7A5A15"/>
                </a:solidFill>
                <a:latin typeface="Arial" pitchFamily="34" charset="0"/>
                <a:ea typeface="Arial" pitchFamily="34" charset="-122"/>
                <a:cs typeface="Arial" pitchFamily="34" charset="-120"/>
              </a:rPr>
              <a:t>Rose 2027</a:t>
            </a:r>
            <a:endParaRPr lang="en-US" sz="750" dirty="0"/>
          </a:p>
        </p:txBody>
      </p:sp>
      <p:sp>
        <p:nvSpPr>
          <p:cNvPr id="58" name="Text 56"/>
          <p:cNvSpPr txBox="1"/>
          <p:nvPr/>
        </p:nvSpPr>
        <p:spPr>
          <a:xfrm>
            <a:off x="7452360" y="3273552"/>
            <a:ext cx="1874520" cy="502920"/>
          </a:xfrm>
          <a:prstGeom prst="rect">
            <a:avLst/>
          </a:prstGeom>
          <a:noFill/>
          <a:ln/>
        </p:spPr>
        <p:txBody>
          <a:bodyPr wrap="square" lIns="0" tIns="0" rIns="0" bIns="0" rtlCol="0" anchor="b"/>
          <a:lstStyle/>
          <a:p>
            <a:pPr indent="0" marL="0">
              <a:buNone/>
            </a:pPr>
            <a:r>
              <a:rPr lang="en-US" sz="950" dirty="0">
                <a:solidFill>
                  <a:srgbClr val="1B2A4A"/>
                </a:solidFill>
                <a:latin typeface="Cambria" pitchFamily="34" charset="0"/>
                <a:ea typeface="Cambria" pitchFamily="34" charset="-122"/>
                <a:cs typeface="Cambria" pitchFamily="34" charset="-120"/>
              </a:rPr>
              <a:t>Seven straight Grand National finals; 2027 Rose Parade invitee.</a:t>
            </a:r>
            <a:endParaRPr lang="en-US" sz="950" dirty="0"/>
          </a:p>
        </p:txBody>
      </p:sp>
      <p:sp>
        <p:nvSpPr>
          <p:cNvPr id="59" name="Shape 57"/>
          <p:cNvSpPr/>
          <p:nvPr/>
        </p:nvSpPr>
        <p:spPr>
          <a:xfrm>
            <a:off x="9582912" y="1481328"/>
            <a:ext cx="2130552" cy="2359152"/>
          </a:xfrm>
          <a:prstGeom prst="rect">
            <a:avLst/>
          </a:prstGeom>
          <a:solidFill>
            <a:srgbClr val="FFFDF8"/>
          </a:solidFill>
          <a:ln w="9525">
            <a:solidFill>
              <a:srgbClr val="DAD3C6"/>
            </a:solidFill>
            <a:prstDash val="solid"/>
          </a:ln>
        </p:spPr>
      </p:sp>
      <p:sp>
        <p:nvSpPr>
          <p:cNvPr id="60" name="Text 58"/>
          <p:cNvSpPr txBox="1"/>
          <p:nvPr/>
        </p:nvSpPr>
        <p:spPr>
          <a:xfrm>
            <a:off x="9710928" y="1554480"/>
            <a:ext cx="731520" cy="384048"/>
          </a:xfrm>
          <a:prstGeom prst="rect">
            <a:avLst/>
          </a:prstGeom>
          <a:noFill/>
          <a:ln/>
        </p:spPr>
        <p:txBody>
          <a:bodyPr wrap="square" lIns="0" tIns="0" rIns="0" bIns="0" rtlCol="0" anchor="b"/>
          <a:lstStyle/>
          <a:p>
            <a:pPr indent="0" marL="0">
              <a:buNone/>
            </a:pPr>
            <a:r>
              <a:rPr lang="en-US" sz="2400" b="1" dirty="0">
                <a:solidFill>
                  <a:srgbClr val="B8862B"/>
                </a:solidFill>
                <a:latin typeface="Arial" pitchFamily="34" charset="0"/>
                <a:ea typeface="Arial" pitchFamily="34" charset="-122"/>
                <a:cs typeface="Arial" pitchFamily="34" charset="-120"/>
              </a:rPr>
              <a:t>5</a:t>
            </a:r>
            <a:endParaRPr lang="en-US" sz="2400" dirty="0"/>
          </a:p>
        </p:txBody>
      </p:sp>
      <p:sp>
        <p:nvSpPr>
          <p:cNvPr id="61" name="Text 59"/>
          <p:cNvSpPr txBox="1"/>
          <p:nvPr/>
        </p:nvSpPr>
        <p:spPr>
          <a:xfrm>
            <a:off x="10890504" y="1554480"/>
            <a:ext cx="694944" cy="384048"/>
          </a:xfrm>
          <a:prstGeom prst="rect">
            <a:avLst/>
          </a:prstGeom>
          <a:noFill/>
          <a:ln/>
        </p:spPr>
        <p:txBody>
          <a:bodyPr wrap="square" lIns="0" tIns="0" rIns="0" bIns="0" rtlCol="0" anchor="b"/>
          <a:lstStyle/>
          <a:p>
            <a:pPr algn="r" indent="0" marL="0">
              <a:buNone/>
            </a:pPr>
            <a:r>
              <a:rPr lang="en-US" sz="1800" b="1" dirty="0">
                <a:solidFill>
                  <a:srgbClr val="1B2A4A"/>
                </a:solidFill>
                <a:latin typeface="Arial" pitchFamily="34" charset="0"/>
                <a:ea typeface="Arial" pitchFamily="34" charset="-122"/>
                <a:cs typeface="Arial" pitchFamily="34" charset="-120"/>
              </a:rPr>
              <a:t>85</a:t>
            </a:r>
            <a:endParaRPr lang="en-US" sz="1800" dirty="0"/>
          </a:p>
        </p:txBody>
      </p:sp>
      <p:sp>
        <p:nvSpPr>
          <p:cNvPr id="62" name="Text 60"/>
          <p:cNvSpPr txBox="1"/>
          <p:nvPr/>
        </p:nvSpPr>
        <p:spPr>
          <a:xfrm>
            <a:off x="9710928" y="1984248"/>
            <a:ext cx="1874520" cy="457200"/>
          </a:xfrm>
          <a:prstGeom prst="rect">
            <a:avLst/>
          </a:prstGeom>
          <a:noFill/>
          <a:ln/>
        </p:spPr>
        <p:txBody>
          <a:bodyPr wrap="square" lIns="0" tIns="0" rIns="0" bIns="0" rtlCol="0" anchor="t"/>
          <a:lstStyle/>
          <a:p>
            <a:pPr indent="0" marL="0">
              <a:buNone/>
            </a:pPr>
            <a:r>
              <a:rPr lang="en-US" sz="1300" b="1" dirty="0">
                <a:solidFill>
                  <a:srgbClr val="1B2A4A"/>
                </a:solidFill>
                <a:latin typeface="Arial" pitchFamily="34" charset="0"/>
                <a:ea typeface="Arial" pitchFamily="34" charset="-122"/>
                <a:cs typeface="Arial" pitchFamily="34" charset="-120"/>
              </a:rPr>
              <a:t>William Mason High School</a:t>
            </a:r>
            <a:endParaRPr lang="en-US" sz="1300" dirty="0"/>
          </a:p>
        </p:txBody>
      </p:sp>
      <p:sp>
        <p:nvSpPr>
          <p:cNvPr id="63" name="Text 61"/>
          <p:cNvSpPr txBox="1"/>
          <p:nvPr/>
        </p:nvSpPr>
        <p:spPr>
          <a:xfrm>
            <a:off x="9710928" y="2414016"/>
            <a:ext cx="1874520" cy="219456"/>
          </a:xfrm>
          <a:prstGeom prst="rect">
            <a:avLst/>
          </a:prstGeom>
          <a:noFill/>
          <a:ln/>
        </p:spPr>
        <p:txBody>
          <a:bodyPr wrap="square" lIns="0" tIns="0" rIns="0" bIns="0" rtlCol="0" anchor="t"/>
          <a:lstStyle/>
          <a:p>
            <a:pPr indent="0" marL="0">
              <a:buNone/>
            </a:pPr>
            <a:r>
              <a:rPr lang="en-US" sz="900" dirty="0">
                <a:solidFill>
                  <a:srgbClr val="5B6478"/>
                </a:solidFill>
                <a:latin typeface="Arial" pitchFamily="34" charset="0"/>
                <a:ea typeface="Arial" pitchFamily="34" charset="-122"/>
                <a:cs typeface="Arial" pitchFamily="34" charset="-120"/>
              </a:rPr>
              <a:t>Mason, OH · 3,488 students</a:t>
            </a:r>
            <a:endParaRPr lang="en-US" sz="900" dirty="0"/>
          </a:p>
        </p:txBody>
      </p:sp>
      <p:sp>
        <p:nvSpPr>
          <p:cNvPr id="64" name="Text 62"/>
          <p:cNvSpPr txBox="1"/>
          <p:nvPr/>
        </p:nvSpPr>
        <p:spPr>
          <a:xfrm>
            <a:off x="9710928" y="2651760"/>
            <a:ext cx="588874" cy="201168"/>
          </a:xfrm>
          <a:prstGeom prst="roundRect">
            <a:avLst>
              <a:gd name="adj" fmla="val 50000"/>
            </a:avLst>
          </a:prstGeom>
          <a:solidFill>
            <a:srgbClr val="F1E5CC"/>
          </a:solidFill>
          <a:ln/>
        </p:spPr>
        <p:txBody>
          <a:bodyPr wrap="square" lIns="0" tIns="0" rIns="0" bIns="0" rtlCol="0" anchor="ctr"/>
          <a:lstStyle/>
          <a:p>
            <a:pPr algn="ctr" indent="0" marL="0">
              <a:buNone/>
            </a:pPr>
            <a:r>
              <a:rPr lang="en-US" sz="750" b="1" dirty="0">
                <a:solidFill>
                  <a:srgbClr val="7A5A15"/>
                </a:solidFill>
                <a:latin typeface="Arial" pitchFamily="34" charset="0"/>
                <a:ea typeface="Arial" pitchFamily="34" charset="-122"/>
                <a:cs typeface="Arial" pitchFamily="34" charset="-120"/>
              </a:rPr>
              <a:t>Rose 2016</a:t>
            </a:r>
            <a:endParaRPr lang="en-US" sz="750" dirty="0"/>
          </a:p>
        </p:txBody>
      </p:sp>
      <p:sp>
        <p:nvSpPr>
          <p:cNvPr id="65" name="Text 63"/>
          <p:cNvSpPr txBox="1"/>
          <p:nvPr/>
        </p:nvSpPr>
        <p:spPr>
          <a:xfrm>
            <a:off x="10345522" y="2651760"/>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2018</a:t>
            </a:r>
            <a:endParaRPr lang="en-US" sz="750" dirty="0"/>
          </a:p>
        </p:txBody>
      </p:sp>
      <p:sp>
        <p:nvSpPr>
          <p:cNvPr id="66" name="Text 64"/>
          <p:cNvSpPr txBox="1"/>
          <p:nvPr/>
        </p:nvSpPr>
        <p:spPr>
          <a:xfrm>
            <a:off x="10928909" y="2651760"/>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2019</a:t>
            </a:r>
            <a:endParaRPr lang="en-US" sz="750" dirty="0"/>
          </a:p>
        </p:txBody>
      </p:sp>
      <p:sp>
        <p:nvSpPr>
          <p:cNvPr id="67" name="Text 65"/>
          <p:cNvSpPr txBox="1"/>
          <p:nvPr/>
        </p:nvSpPr>
        <p:spPr>
          <a:xfrm>
            <a:off x="9710928" y="287578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2021</a:t>
            </a:r>
            <a:endParaRPr lang="en-US" sz="750" dirty="0"/>
          </a:p>
        </p:txBody>
      </p:sp>
      <p:sp>
        <p:nvSpPr>
          <p:cNvPr id="68" name="Text 66"/>
          <p:cNvSpPr txBox="1"/>
          <p:nvPr/>
        </p:nvSpPr>
        <p:spPr>
          <a:xfrm>
            <a:off x="10294315" y="287578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2022</a:t>
            </a:r>
            <a:endParaRPr lang="en-US" sz="750" dirty="0"/>
          </a:p>
        </p:txBody>
      </p:sp>
      <p:sp>
        <p:nvSpPr>
          <p:cNvPr id="69" name="Text 67"/>
          <p:cNvSpPr txBox="1"/>
          <p:nvPr/>
        </p:nvSpPr>
        <p:spPr>
          <a:xfrm>
            <a:off x="10877702" y="287578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2023</a:t>
            </a:r>
            <a:endParaRPr lang="en-US" sz="750" dirty="0"/>
          </a:p>
        </p:txBody>
      </p:sp>
      <p:sp>
        <p:nvSpPr>
          <p:cNvPr id="70" name="Text 68"/>
          <p:cNvSpPr txBox="1"/>
          <p:nvPr/>
        </p:nvSpPr>
        <p:spPr>
          <a:xfrm>
            <a:off x="9710928" y="3099816"/>
            <a:ext cx="588874" cy="201168"/>
          </a:xfrm>
          <a:prstGeom prst="roundRect">
            <a:avLst>
              <a:gd name="adj" fmla="val 50000"/>
            </a:avLst>
          </a:prstGeom>
          <a:solidFill>
            <a:srgbClr val="F1E5CC"/>
          </a:solidFill>
          <a:ln/>
        </p:spPr>
        <p:txBody>
          <a:bodyPr wrap="square" lIns="0" tIns="0" rIns="0" bIns="0" rtlCol="0" anchor="ctr"/>
          <a:lstStyle/>
          <a:p>
            <a:pPr algn="ctr" indent="0" marL="0">
              <a:buNone/>
            </a:pPr>
            <a:r>
              <a:rPr lang="en-US" sz="750" b="1" dirty="0">
                <a:solidFill>
                  <a:srgbClr val="7A5A15"/>
                </a:solidFill>
                <a:latin typeface="Arial" pitchFamily="34" charset="0"/>
                <a:ea typeface="Arial" pitchFamily="34" charset="-122"/>
                <a:cs typeface="Arial" pitchFamily="34" charset="-120"/>
              </a:rPr>
              <a:t>Rose 2024</a:t>
            </a:r>
            <a:endParaRPr lang="en-US" sz="750" dirty="0"/>
          </a:p>
        </p:txBody>
      </p:sp>
      <p:sp>
        <p:nvSpPr>
          <p:cNvPr id="71" name="Text 69"/>
          <p:cNvSpPr txBox="1"/>
          <p:nvPr/>
        </p:nvSpPr>
        <p:spPr>
          <a:xfrm>
            <a:off x="10345522" y="3099816"/>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2024</a:t>
            </a:r>
            <a:endParaRPr lang="en-US" sz="750" dirty="0"/>
          </a:p>
        </p:txBody>
      </p:sp>
      <p:sp>
        <p:nvSpPr>
          <p:cNvPr id="72" name="Text 70"/>
          <p:cNvSpPr txBox="1"/>
          <p:nvPr/>
        </p:nvSpPr>
        <p:spPr>
          <a:xfrm>
            <a:off x="10928909" y="3099816"/>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2025</a:t>
            </a:r>
            <a:endParaRPr lang="en-US" sz="750" dirty="0"/>
          </a:p>
        </p:txBody>
      </p:sp>
      <p:sp>
        <p:nvSpPr>
          <p:cNvPr id="73" name="Text 71"/>
          <p:cNvSpPr txBox="1"/>
          <p:nvPr/>
        </p:nvSpPr>
        <p:spPr>
          <a:xfrm>
            <a:off x="9710928" y="3273552"/>
            <a:ext cx="1874520" cy="502920"/>
          </a:xfrm>
          <a:prstGeom prst="rect">
            <a:avLst/>
          </a:prstGeom>
          <a:noFill/>
          <a:ln/>
        </p:spPr>
        <p:txBody>
          <a:bodyPr wrap="square" lIns="0" tIns="0" rIns="0" bIns="0" rtlCol="0" anchor="b"/>
          <a:lstStyle/>
          <a:p>
            <a:pPr indent="0" marL="0">
              <a:buNone/>
            </a:pPr>
            <a:r>
              <a:rPr lang="en-US" sz="950" dirty="0">
                <a:solidFill>
                  <a:srgbClr val="1B2A4A"/>
                </a:solidFill>
                <a:latin typeface="Cambria" pitchFamily="34" charset="0"/>
                <a:ea typeface="Cambria" pitchFamily="34" charset="-122"/>
                <a:cs typeface="Cambria" pitchFamily="34" charset="-120"/>
              </a:rPr>
              <a:t>Deepest history on the list: nine appearances in ten years.</a:t>
            </a:r>
            <a:endParaRPr lang="en-US" sz="950" dirty="0"/>
          </a:p>
        </p:txBody>
      </p:sp>
      <p:sp>
        <p:nvSpPr>
          <p:cNvPr id="74" name="Shape 72"/>
          <p:cNvSpPr/>
          <p:nvPr/>
        </p:nvSpPr>
        <p:spPr>
          <a:xfrm>
            <a:off x="548640" y="3968496"/>
            <a:ext cx="2130552" cy="2359152"/>
          </a:xfrm>
          <a:prstGeom prst="rect">
            <a:avLst/>
          </a:prstGeom>
          <a:solidFill>
            <a:srgbClr val="FFFDF8"/>
          </a:solidFill>
          <a:ln w="9525">
            <a:solidFill>
              <a:srgbClr val="DAD3C6"/>
            </a:solidFill>
            <a:prstDash val="solid"/>
          </a:ln>
        </p:spPr>
      </p:sp>
      <p:sp>
        <p:nvSpPr>
          <p:cNvPr id="75" name="Text 73"/>
          <p:cNvSpPr txBox="1"/>
          <p:nvPr/>
        </p:nvSpPr>
        <p:spPr>
          <a:xfrm>
            <a:off x="676656" y="4041648"/>
            <a:ext cx="731520" cy="384048"/>
          </a:xfrm>
          <a:prstGeom prst="rect">
            <a:avLst/>
          </a:prstGeom>
          <a:noFill/>
          <a:ln/>
        </p:spPr>
        <p:txBody>
          <a:bodyPr wrap="square" lIns="0" tIns="0" rIns="0" bIns="0" rtlCol="0" anchor="b"/>
          <a:lstStyle/>
          <a:p>
            <a:pPr indent="0" marL="0">
              <a:buNone/>
            </a:pPr>
            <a:r>
              <a:rPr lang="en-US" sz="2400" b="1" dirty="0">
                <a:solidFill>
                  <a:srgbClr val="B8862B"/>
                </a:solidFill>
                <a:latin typeface="Arial" pitchFamily="34" charset="0"/>
                <a:ea typeface="Arial" pitchFamily="34" charset="-122"/>
                <a:cs typeface="Arial" pitchFamily="34" charset="-120"/>
              </a:rPr>
              <a:t>6</a:t>
            </a:r>
            <a:endParaRPr lang="en-US" sz="2400" dirty="0"/>
          </a:p>
        </p:txBody>
      </p:sp>
      <p:sp>
        <p:nvSpPr>
          <p:cNvPr id="76" name="Text 74"/>
          <p:cNvSpPr txBox="1"/>
          <p:nvPr/>
        </p:nvSpPr>
        <p:spPr>
          <a:xfrm>
            <a:off x="1856232" y="4041648"/>
            <a:ext cx="694944" cy="384048"/>
          </a:xfrm>
          <a:prstGeom prst="rect">
            <a:avLst/>
          </a:prstGeom>
          <a:noFill/>
          <a:ln/>
        </p:spPr>
        <p:txBody>
          <a:bodyPr wrap="square" lIns="0" tIns="0" rIns="0" bIns="0" rtlCol="0" anchor="b"/>
          <a:lstStyle/>
          <a:p>
            <a:pPr algn="r" indent="0" marL="0">
              <a:buNone/>
            </a:pPr>
            <a:r>
              <a:rPr lang="en-US" sz="1800" b="1" dirty="0">
                <a:solidFill>
                  <a:srgbClr val="1B2A4A"/>
                </a:solidFill>
                <a:latin typeface="Arial" pitchFamily="34" charset="0"/>
                <a:ea typeface="Arial" pitchFamily="34" charset="-122"/>
                <a:cs typeface="Arial" pitchFamily="34" charset="-120"/>
              </a:rPr>
              <a:t>74</a:t>
            </a:r>
            <a:endParaRPr lang="en-US" sz="1800" dirty="0"/>
          </a:p>
        </p:txBody>
      </p:sp>
      <p:sp>
        <p:nvSpPr>
          <p:cNvPr id="77" name="Text 75"/>
          <p:cNvSpPr txBox="1"/>
          <p:nvPr/>
        </p:nvSpPr>
        <p:spPr>
          <a:xfrm>
            <a:off x="676656" y="4471416"/>
            <a:ext cx="1874520" cy="457200"/>
          </a:xfrm>
          <a:prstGeom prst="rect">
            <a:avLst/>
          </a:prstGeom>
          <a:noFill/>
          <a:ln/>
        </p:spPr>
        <p:txBody>
          <a:bodyPr wrap="square" lIns="0" tIns="0" rIns="0" bIns="0" rtlCol="0" anchor="t"/>
          <a:lstStyle/>
          <a:p>
            <a:pPr indent="0" marL="0">
              <a:buNone/>
            </a:pPr>
            <a:r>
              <a:rPr lang="en-US" sz="1300" b="1" dirty="0">
                <a:solidFill>
                  <a:srgbClr val="1B2A4A"/>
                </a:solidFill>
                <a:latin typeface="Arial" pitchFamily="34" charset="0"/>
                <a:ea typeface="Arial" pitchFamily="34" charset="-122"/>
                <a:cs typeface="Arial" pitchFamily="34" charset="-120"/>
              </a:rPr>
              <a:t>Brownsburg High School</a:t>
            </a:r>
            <a:endParaRPr lang="en-US" sz="1300" dirty="0"/>
          </a:p>
        </p:txBody>
      </p:sp>
      <p:sp>
        <p:nvSpPr>
          <p:cNvPr id="78" name="Text 76"/>
          <p:cNvSpPr txBox="1"/>
          <p:nvPr/>
        </p:nvSpPr>
        <p:spPr>
          <a:xfrm>
            <a:off x="676656" y="4901184"/>
            <a:ext cx="1874520" cy="219456"/>
          </a:xfrm>
          <a:prstGeom prst="rect">
            <a:avLst/>
          </a:prstGeom>
          <a:noFill/>
          <a:ln/>
        </p:spPr>
        <p:txBody>
          <a:bodyPr wrap="square" lIns="0" tIns="0" rIns="0" bIns="0" rtlCol="0" anchor="t"/>
          <a:lstStyle/>
          <a:p>
            <a:pPr indent="0" marL="0">
              <a:buNone/>
            </a:pPr>
            <a:r>
              <a:rPr lang="en-US" sz="900" dirty="0">
                <a:solidFill>
                  <a:srgbClr val="5B6478"/>
                </a:solidFill>
                <a:latin typeface="Arial" pitchFamily="34" charset="0"/>
                <a:ea typeface="Arial" pitchFamily="34" charset="-122"/>
                <a:cs typeface="Arial" pitchFamily="34" charset="-120"/>
              </a:rPr>
              <a:t>Brownsburg, IN · 3,318 students</a:t>
            </a:r>
            <a:endParaRPr lang="en-US" sz="900" dirty="0"/>
          </a:p>
        </p:txBody>
      </p:sp>
      <p:sp>
        <p:nvSpPr>
          <p:cNvPr id="79" name="Text 77"/>
          <p:cNvSpPr txBox="1"/>
          <p:nvPr/>
        </p:nvSpPr>
        <p:spPr>
          <a:xfrm>
            <a:off x="676656" y="5138928"/>
            <a:ext cx="998525" cy="201168"/>
          </a:xfrm>
          <a:prstGeom prst="roundRect">
            <a:avLst>
              <a:gd name="adj" fmla="val 50000"/>
            </a:avLst>
          </a:prstGeom>
          <a:solidFill>
            <a:srgbClr val="E6E2D8"/>
          </a:solidFill>
          <a:ln/>
        </p:spPr>
        <p:txBody>
          <a:bodyPr wrap="square" lIns="0" tIns="0" rIns="0" bIns="0" rtlCol="0" anchor="ctr"/>
          <a:lstStyle/>
          <a:p>
            <a:pPr algn="ctr" indent="0" marL="0">
              <a:buNone/>
            </a:pPr>
            <a:r>
              <a:rPr lang="en-US" sz="750" b="1" dirty="0">
                <a:solidFill>
                  <a:srgbClr val="5B6478"/>
                </a:solidFill>
                <a:latin typeface="Arial" pitchFamily="34" charset="0"/>
                <a:ea typeface="Arial" pitchFamily="34" charset="-122"/>
                <a:cs typeface="Arial" pitchFamily="34" charset="-120"/>
              </a:rPr>
              <a:t>Philadelphia 2015</a:t>
            </a:r>
            <a:endParaRPr lang="en-US" sz="750" dirty="0"/>
          </a:p>
        </p:txBody>
      </p:sp>
      <p:sp>
        <p:nvSpPr>
          <p:cNvPr id="80" name="Text 78"/>
          <p:cNvSpPr txBox="1"/>
          <p:nvPr/>
        </p:nvSpPr>
        <p:spPr>
          <a:xfrm>
            <a:off x="1720901" y="513892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2022</a:t>
            </a:r>
            <a:endParaRPr lang="en-US" sz="750" dirty="0"/>
          </a:p>
        </p:txBody>
      </p:sp>
      <p:sp>
        <p:nvSpPr>
          <p:cNvPr id="81" name="Text 79"/>
          <p:cNvSpPr txBox="1"/>
          <p:nvPr/>
        </p:nvSpPr>
        <p:spPr>
          <a:xfrm>
            <a:off x="676656" y="5362956"/>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2023</a:t>
            </a:r>
            <a:endParaRPr lang="en-US" sz="750" dirty="0"/>
          </a:p>
        </p:txBody>
      </p:sp>
      <p:sp>
        <p:nvSpPr>
          <p:cNvPr id="82" name="Text 80"/>
          <p:cNvSpPr txBox="1"/>
          <p:nvPr/>
        </p:nvSpPr>
        <p:spPr>
          <a:xfrm>
            <a:off x="1260043" y="5362956"/>
            <a:ext cx="588874" cy="201168"/>
          </a:xfrm>
          <a:prstGeom prst="roundRect">
            <a:avLst>
              <a:gd name="adj" fmla="val 50000"/>
            </a:avLst>
          </a:prstGeom>
          <a:solidFill>
            <a:srgbClr val="F1E5CC"/>
          </a:solidFill>
          <a:ln/>
        </p:spPr>
        <p:txBody>
          <a:bodyPr wrap="square" lIns="0" tIns="0" rIns="0" bIns="0" rtlCol="0" anchor="ctr"/>
          <a:lstStyle/>
          <a:p>
            <a:pPr algn="ctr" indent="0" marL="0">
              <a:buNone/>
            </a:pPr>
            <a:r>
              <a:rPr lang="en-US" sz="750" b="1" dirty="0">
                <a:solidFill>
                  <a:srgbClr val="7A5A15"/>
                </a:solidFill>
                <a:latin typeface="Arial" pitchFamily="34" charset="0"/>
                <a:ea typeface="Arial" pitchFamily="34" charset="-122"/>
                <a:cs typeface="Arial" pitchFamily="34" charset="-120"/>
              </a:rPr>
              <a:t>Rose 2026</a:t>
            </a:r>
            <a:endParaRPr lang="en-US" sz="750" dirty="0"/>
          </a:p>
        </p:txBody>
      </p:sp>
      <p:sp>
        <p:nvSpPr>
          <p:cNvPr id="83" name="Text 81"/>
          <p:cNvSpPr txBox="1"/>
          <p:nvPr/>
        </p:nvSpPr>
        <p:spPr>
          <a:xfrm>
            <a:off x="676656" y="5760720"/>
            <a:ext cx="1874520" cy="502920"/>
          </a:xfrm>
          <a:prstGeom prst="rect">
            <a:avLst/>
          </a:prstGeom>
          <a:noFill/>
          <a:ln/>
        </p:spPr>
        <p:txBody>
          <a:bodyPr wrap="square" lIns="0" tIns="0" rIns="0" bIns="0" rtlCol="0" anchor="b"/>
          <a:lstStyle/>
          <a:p>
            <a:pPr indent="0" marL="0">
              <a:buNone/>
            </a:pPr>
            <a:r>
              <a:rPr lang="en-US" sz="950" dirty="0">
                <a:solidFill>
                  <a:srgbClr val="1B2A4A"/>
                </a:solidFill>
                <a:latin typeface="Cambria" pitchFamily="34" charset="0"/>
                <a:ea typeface="Cambria" pitchFamily="34" charset="-122"/>
                <a:cs typeface="Cambria" pitchFamily="34" charset="-120"/>
              </a:rPr>
              <a:t>Marching in Pasadena this coming January.</a:t>
            </a:r>
            <a:endParaRPr lang="en-US" sz="950" dirty="0"/>
          </a:p>
        </p:txBody>
      </p:sp>
      <p:sp>
        <p:nvSpPr>
          <p:cNvPr id="84" name="Shape 82"/>
          <p:cNvSpPr/>
          <p:nvPr/>
        </p:nvSpPr>
        <p:spPr>
          <a:xfrm>
            <a:off x="2807208" y="3968496"/>
            <a:ext cx="2130552" cy="2359152"/>
          </a:xfrm>
          <a:prstGeom prst="rect">
            <a:avLst/>
          </a:prstGeom>
          <a:solidFill>
            <a:srgbClr val="FFFDF8"/>
          </a:solidFill>
          <a:ln w="9525">
            <a:solidFill>
              <a:srgbClr val="DAD3C6"/>
            </a:solidFill>
            <a:prstDash val="solid"/>
          </a:ln>
        </p:spPr>
      </p:sp>
      <p:sp>
        <p:nvSpPr>
          <p:cNvPr id="85" name="Text 83"/>
          <p:cNvSpPr txBox="1"/>
          <p:nvPr/>
        </p:nvSpPr>
        <p:spPr>
          <a:xfrm>
            <a:off x="2935224" y="4041648"/>
            <a:ext cx="731520" cy="384048"/>
          </a:xfrm>
          <a:prstGeom prst="rect">
            <a:avLst/>
          </a:prstGeom>
          <a:noFill/>
          <a:ln/>
        </p:spPr>
        <p:txBody>
          <a:bodyPr wrap="square" lIns="0" tIns="0" rIns="0" bIns="0" rtlCol="0" anchor="b"/>
          <a:lstStyle/>
          <a:p>
            <a:pPr indent="0" marL="0">
              <a:buNone/>
            </a:pPr>
            <a:r>
              <a:rPr lang="en-US" sz="2400" b="1" dirty="0">
                <a:solidFill>
                  <a:srgbClr val="B8862B"/>
                </a:solidFill>
                <a:latin typeface="Arial" pitchFamily="34" charset="0"/>
                <a:ea typeface="Arial" pitchFamily="34" charset="-122"/>
                <a:cs typeface="Arial" pitchFamily="34" charset="-120"/>
              </a:rPr>
              <a:t>7</a:t>
            </a:r>
            <a:endParaRPr lang="en-US" sz="2400" dirty="0"/>
          </a:p>
        </p:txBody>
      </p:sp>
      <p:sp>
        <p:nvSpPr>
          <p:cNvPr id="86" name="Text 84"/>
          <p:cNvSpPr txBox="1"/>
          <p:nvPr/>
        </p:nvSpPr>
        <p:spPr>
          <a:xfrm>
            <a:off x="4114800" y="4041648"/>
            <a:ext cx="694944" cy="384048"/>
          </a:xfrm>
          <a:prstGeom prst="rect">
            <a:avLst/>
          </a:prstGeom>
          <a:noFill/>
          <a:ln/>
        </p:spPr>
        <p:txBody>
          <a:bodyPr wrap="square" lIns="0" tIns="0" rIns="0" bIns="0" rtlCol="0" anchor="b"/>
          <a:lstStyle/>
          <a:p>
            <a:pPr algn="r" indent="0" marL="0">
              <a:buNone/>
            </a:pPr>
            <a:r>
              <a:rPr lang="en-US" sz="1800" b="1" dirty="0">
                <a:solidFill>
                  <a:srgbClr val="1B2A4A"/>
                </a:solidFill>
                <a:latin typeface="Arial" pitchFamily="34" charset="0"/>
                <a:ea typeface="Arial" pitchFamily="34" charset="-122"/>
                <a:cs typeface="Arial" pitchFamily="34" charset="-120"/>
              </a:rPr>
              <a:t>74</a:t>
            </a:r>
            <a:endParaRPr lang="en-US" sz="1800" dirty="0"/>
          </a:p>
        </p:txBody>
      </p:sp>
      <p:sp>
        <p:nvSpPr>
          <p:cNvPr id="87" name="Text 85"/>
          <p:cNvSpPr txBox="1"/>
          <p:nvPr/>
        </p:nvSpPr>
        <p:spPr>
          <a:xfrm>
            <a:off x="2935224" y="4471416"/>
            <a:ext cx="1874520" cy="457200"/>
          </a:xfrm>
          <a:prstGeom prst="rect">
            <a:avLst/>
          </a:prstGeom>
          <a:noFill/>
          <a:ln/>
        </p:spPr>
        <p:txBody>
          <a:bodyPr wrap="square" lIns="0" tIns="0" rIns="0" bIns="0" rtlCol="0" anchor="t"/>
          <a:lstStyle/>
          <a:p>
            <a:pPr indent="0" marL="0">
              <a:buNone/>
            </a:pPr>
            <a:r>
              <a:rPr lang="en-US" sz="1300" b="1" dirty="0">
                <a:solidFill>
                  <a:srgbClr val="1B2A4A"/>
                </a:solidFill>
                <a:latin typeface="Arial" pitchFamily="34" charset="0"/>
                <a:ea typeface="Arial" pitchFamily="34" charset="-122"/>
                <a:cs typeface="Arial" pitchFamily="34" charset="-120"/>
              </a:rPr>
              <a:t>The Woodlands High School</a:t>
            </a:r>
            <a:endParaRPr lang="en-US" sz="1300" dirty="0"/>
          </a:p>
        </p:txBody>
      </p:sp>
      <p:sp>
        <p:nvSpPr>
          <p:cNvPr id="88" name="Text 86"/>
          <p:cNvSpPr txBox="1"/>
          <p:nvPr/>
        </p:nvSpPr>
        <p:spPr>
          <a:xfrm>
            <a:off x="2935224" y="4901184"/>
            <a:ext cx="1874520" cy="219456"/>
          </a:xfrm>
          <a:prstGeom prst="rect">
            <a:avLst/>
          </a:prstGeom>
          <a:noFill/>
          <a:ln/>
        </p:spPr>
        <p:txBody>
          <a:bodyPr wrap="square" lIns="0" tIns="0" rIns="0" bIns="0" rtlCol="0" anchor="t"/>
          <a:lstStyle/>
          <a:p>
            <a:pPr indent="0" marL="0">
              <a:buNone/>
            </a:pPr>
            <a:r>
              <a:rPr lang="en-US" sz="900" dirty="0">
                <a:solidFill>
                  <a:srgbClr val="5B6478"/>
                </a:solidFill>
                <a:latin typeface="Arial" pitchFamily="34" charset="0"/>
                <a:ea typeface="Arial" pitchFamily="34" charset="-122"/>
                <a:cs typeface="Arial" pitchFamily="34" charset="-120"/>
              </a:rPr>
              <a:t>The Woodlands, TX · 4,498 students</a:t>
            </a:r>
            <a:endParaRPr lang="en-US" sz="900" dirty="0"/>
          </a:p>
        </p:txBody>
      </p:sp>
      <p:sp>
        <p:nvSpPr>
          <p:cNvPr id="89" name="Text 87"/>
          <p:cNvSpPr txBox="1"/>
          <p:nvPr/>
        </p:nvSpPr>
        <p:spPr>
          <a:xfrm>
            <a:off x="2935224" y="513892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2019</a:t>
            </a:r>
            <a:endParaRPr lang="en-US" sz="750" dirty="0"/>
          </a:p>
        </p:txBody>
      </p:sp>
      <p:sp>
        <p:nvSpPr>
          <p:cNvPr id="90" name="Text 88"/>
          <p:cNvSpPr txBox="1"/>
          <p:nvPr/>
        </p:nvSpPr>
        <p:spPr>
          <a:xfrm>
            <a:off x="3518611" y="513892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2021</a:t>
            </a:r>
            <a:endParaRPr lang="en-US" sz="750" dirty="0"/>
          </a:p>
        </p:txBody>
      </p:sp>
      <p:sp>
        <p:nvSpPr>
          <p:cNvPr id="91" name="Text 89"/>
          <p:cNvSpPr txBox="1"/>
          <p:nvPr/>
        </p:nvSpPr>
        <p:spPr>
          <a:xfrm>
            <a:off x="4101998" y="513892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2023</a:t>
            </a:r>
            <a:endParaRPr lang="en-US" sz="750" dirty="0"/>
          </a:p>
        </p:txBody>
      </p:sp>
      <p:sp>
        <p:nvSpPr>
          <p:cNvPr id="92" name="Text 90"/>
          <p:cNvSpPr txBox="1"/>
          <p:nvPr/>
        </p:nvSpPr>
        <p:spPr>
          <a:xfrm>
            <a:off x="2935224" y="5362956"/>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2025</a:t>
            </a:r>
            <a:endParaRPr lang="en-US" sz="750" dirty="0"/>
          </a:p>
        </p:txBody>
      </p:sp>
      <p:sp>
        <p:nvSpPr>
          <p:cNvPr id="93" name="Text 91"/>
          <p:cNvSpPr txBox="1"/>
          <p:nvPr/>
        </p:nvSpPr>
        <p:spPr>
          <a:xfrm>
            <a:off x="2935224" y="5760720"/>
            <a:ext cx="1874520" cy="502920"/>
          </a:xfrm>
          <a:prstGeom prst="rect">
            <a:avLst/>
          </a:prstGeom>
          <a:noFill/>
          <a:ln/>
        </p:spPr>
        <p:txBody>
          <a:bodyPr wrap="square" lIns="0" tIns="0" rIns="0" bIns="0" rtlCol="0" anchor="b"/>
          <a:lstStyle/>
          <a:p>
            <a:pPr indent="0" marL="0">
              <a:buNone/>
            </a:pPr>
            <a:r>
              <a:rPr lang="en-US" sz="950" dirty="0">
                <a:solidFill>
                  <a:srgbClr val="1B2A4A"/>
                </a:solidFill>
                <a:latin typeface="Cambria" pitchFamily="34" charset="0"/>
                <a:ea typeface="Cambria" pitchFamily="34" charset="-122"/>
                <a:cs typeface="Cambria" pitchFamily="34" charset="-120"/>
              </a:rPr>
              <a:t>The one school with a published band-director email.</a:t>
            </a:r>
            <a:endParaRPr lang="en-US" sz="950" dirty="0"/>
          </a:p>
        </p:txBody>
      </p:sp>
      <p:sp>
        <p:nvSpPr>
          <p:cNvPr id="94" name="Shape 92"/>
          <p:cNvSpPr/>
          <p:nvPr/>
        </p:nvSpPr>
        <p:spPr>
          <a:xfrm>
            <a:off x="5065776" y="3968496"/>
            <a:ext cx="2130552" cy="2359152"/>
          </a:xfrm>
          <a:prstGeom prst="rect">
            <a:avLst/>
          </a:prstGeom>
          <a:solidFill>
            <a:srgbClr val="FFFDF8"/>
          </a:solidFill>
          <a:ln w="9525">
            <a:solidFill>
              <a:srgbClr val="DAD3C6"/>
            </a:solidFill>
            <a:prstDash val="solid"/>
          </a:ln>
        </p:spPr>
      </p:sp>
      <p:sp>
        <p:nvSpPr>
          <p:cNvPr id="95" name="Text 93"/>
          <p:cNvSpPr txBox="1"/>
          <p:nvPr/>
        </p:nvSpPr>
        <p:spPr>
          <a:xfrm>
            <a:off x="5193792" y="4041648"/>
            <a:ext cx="731520" cy="384048"/>
          </a:xfrm>
          <a:prstGeom prst="rect">
            <a:avLst/>
          </a:prstGeom>
          <a:noFill/>
          <a:ln/>
        </p:spPr>
        <p:txBody>
          <a:bodyPr wrap="square" lIns="0" tIns="0" rIns="0" bIns="0" rtlCol="0" anchor="b"/>
          <a:lstStyle/>
          <a:p>
            <a:pPr indent="0" marL="0">
              <a:buNone/>
            </a:pPr>
            <a:r>
              <a:rPr lang="en-US" sz="2400" b="1" dirty="0">
                <a:solidFill>
                  <a:srgbClr val="B8862B"/>
                </a:solidFill>
                <a:latin typeface="Arial" pitchFamily="34" charset="0"/>
                <a:ea typeface="Arial" pitchFamily="34" charset="-122"/>
                <a:cs typeface="Arial" pitchFamily="34" charset="-120"/>
              </a:rPr>
              <a:t>8</a:t>
            </a:r>
            <a:endParaRPr lang="en-US" sz="2400" dirty="0"/>
          </a:p>
        </p:txBody>
      </p:sp>
      <p:sp>
        <p:nvSpPr>
          <p:cNvPr id="96" name="Text 94"/>
          <p:cNvSpPr txBox="1"/>
          <p:nvPr/>
        </p:nvSpPr>
        <p:spPr>
          <a:xfrm>
            <a:off x="6373368" y="4041648"/>
            <a:ext cx="694944" cy="384048"/>
          </a:xfrm>
          <a:prstGeom prst="rect">
            <a:avLst/>
          </a:prstGeom>
          <a:noFill/>
          <a:ln/>
        </p:spPr>
        <p:txBody>
          <a:bodyPr wrap="square" lIns="0" tIns="0" rIns="0" bIns="0" rtlCol="0" anchor="b"/>
          <a:lstStyle/>
          <a:p>
            <a:pPr algn="r" indent="0" marL="0">
              <a:buNone/>
            </a:pPr>
            <a:r>
              <a:rPr lang="en-US" sz="1800" b="1" dirty="0">
                <a:solidFill>
                  <a:srgbClr val="1B2A4A"/>
                </a:solidFill>
                <a:latin typeface="Arial" pitchFamily="34" charset="0"/>
                <a:ea typeface="Arial" pitchFamily="34" charset="-122"/>
                <a:cs typeface="Arial" pitchFamily="34" charset="-120"/>
              </a:rPr>
              <a:t>73</a:t>
            </a:r>
            <a:endParaRPr lang="en-US" sz="1800" dirty="0"/>
          </a:p>
        </p:txBody>
      </p:sp>
      <p:sp>
        <p:nvSpPr>
          <p:cNvPr id="97" name="Text 95"/>
          <p:cNvSpPr txBox="1"/>
          <p:nvPr/>
        </p:nvSpPr>
        <p:spPr>
          <a:xfrm>
            <a:off x="5193792" y="4471416"/>
            <a:ext cx="1874520" cy="457200"/>
          </a:xfrm>
          <a:prstGeom prst="rect">
            <a:avLst/>
          </a:prstGeom>
          <a:noFill/>
          <a:ln/>
        </p:spPr>
        <p:txBody>
          <a:bodyPr wrap="square" lIns="0" tIns="0" rIns="0" bIns="0" rtlCol="0" anchor="t"/>
          <a:lstStyle/>
          <a:p>
            <a:pPr indent="0" marL="0">
              <a:buNone/>
            </a:pPr>
            <a:r>
              <a:rPr lang="en-US" sz="1300" b="1" dirty="0">
                <a:solidFill>
                  <a:srgbClr val="1B2A4A"/>
                </a:solidFill>
                <a:latin typeface="Arial" pitchFamily="34" charset="0"/>
                <a:ea typeface="Arial" pitchFamily="34" charset="-122"/>
                <a:cs typeface="Arial" pitchFamily="34" charset="-120"/>
              </a:rPr>
              <a:t>Flower Mound High School</a:t>
            </a:r>
            <a:endParaRPr lang="en-US" sz="1300" dirty="0"/>
          </a:p>
        </p:txBody>
      </p:sp>
      <p:sp>
        <p:nvSpPr>
          <p:cNvPr id="98" name="Text 96"/>
          <p:cNvSpPr txBox="1"/>
          <p:nvPr/>
        </p:nvSpPr>
        <p:spPr>
          <a:xfrm>
            <a:off x="5193792" y="4901184"/>
            <a:ext cx="1874520" cy="219456"/>
          </a:xfrm>
          <a:prstGeom prst="rect">
            <a:avLst/>
          </a:prstGeom>
          <a:noFill/>
          <a:ln/>
        </p:spPr>
        <p:txBody>
          <a:bodyPr wrap="square" lIns="0" tIns="0" rIns="0" bIns="0" rtlCol="0" anchor="t"/>
          <a:lstStyle/>
          <a:p>
            <a:pPr indent="0" marL="0">
              <a:buNone/>
            </a:pPr>
            <a:r>
              <a:rPr lang="en-US" sz="900" dirty="0">
                <a:solidFill>
                  <a:srgbClr val="5B6478"/>
                </a:solidFill>
                <a:latin typeface="Arial" pitchFamily="34" charset="0"/>
                <a:ea typeface="Arial" pitchFamily="34" charset="-122"/>
                <a:cs typeface="Arial" pitchFamily="34" charset="-120"/>
              </a:rPr>
              <a:t>Flower Mound, TX · 3,442 students</a:t>
            </a:r>
            <a:endParaRPr lang="en-US" sz="900" dirty="0"/>
          </a:p>
        </p:txBody>
      </p:sp>
      <p:sp>
        <p:nvSpPr>
          <p:cNvPr id="99" name="Text 97"/>
          <p:cNvSpPr txBox="1"/>
          <p:nvPr/>
        </p:nvSpPr>
        <p:spPr>
          <a:xfrm>
            <a:off x="5193792" y="5138928"/>
            <a:ext cx="588874" cy="201168"/>
          </a:xfrm>
          <a:prstGeom prst="roundRect">
            <a:avLst>
              <a:gd name="adj" fmla="val 50000"/>
            </a:avLst>
          </a:prstGeom>
          <a:solidFill>
            <a:srgbClr val="F1E5CC"/>
          </a:solidFill>
          <a:ln/>
        </p:spPr>
        <p:txBody>
          <a:bodyPr wrap="square" lIns="0" tIns="0" rIns="0" bIns="0" rtlCol="0" anchor="ctr"/>
          <a:lstStyle/>
          <a:p>
            <a:pPr algn="ctr" indent="0" marL="0">
              <a:buNone/>
            </a:pPr>
            <a:r>
              <a:rPr lang="en-US" sz="750" b="1" dirty="0">
                <a:solidFill>
                  <a:srgbClr val="7A5A15"/>
                </a:solidFill>
                <a:latin typeface="Arial" pitchFamily="34" charset="0"/>
                <a:ea typeface="Arial" pitchFamily="34" charset="-122"/>
                <a:cs typeface="Arial" pitchFamily="34" charset="-120"/>
              </a:rPr>
              <a:t>Rose 2019</a:t>
            </a:r>
            <a:endParaRPr lang="en-US" sz="750" dirty="0"/>
          </a:p>
        </p:txBody>
      </p:sp>
      <p:sp>
        <p:nvSpPr>
          <p:cNvPr id="100" name="Text 98"/>
          <p:cNvSpPr txBox="1"/>
          <p:nvPr/>
        </p:nvSpPr>
        <p:spPr>
          <a:xfrm>
            <a:off x="5828386" y="513892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2021</a:t>
            </a:r>
            <a:endParaRPr lang="en-US" sz="750" dirty="0"/>
          </a:p>
        </p:txBody>
      </p:sp>
      <p:sp>
        <p:nvSpPr>
          <p:cNvPr id="101" name="Text 99"/>
          <p:cNvSpPr txBox="1"/>
          <p:nvPr/>
        </p:nvSpPr>
        <p:spPr>
          <a:xfrm>
            <a:off x="6411773" y="513892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2025</a:t>
            </a:r>
            <a:endParaRPr lang="en-US" sz="750" dirty="0"/>
          </a:p>
        </p:txBody>
      </p:sp>
      <p:sp>
        <p:nvSpPr>
          <p:cNvPr id="102" name="Text 100"/>
          <p:cNvSpPr txBox="1"/>
          <p:nvPr/>
        </p:nvSpPr>
        <p:spPr>
          <a:xfrm>
            <a:off x="5193792" y="5760720"/>
            <a:ext cx="1874520" cy="502920"/>
          </a:xfrm>
          <a:prstGeom prst="rect">
            <a:avLst/>
          </a:prstGeom>
          <a:noFill/>
          <a:ln/>
        </p:spPr>
        <p:txBody>
          <a:bodyPr wrap="square" lIns="0" tIns="0" rIns="0" bIns="0" rtlCol="0" anchor="b"/>
          <a:lstStyle/>
          <a:p>
            <a:pPr indent="0" marL="0">
              <a:buNone/>
            </a:pPr>
            <a:r>
              <a:rPr lang="en-US" sz="950" dirty="0">
                <a:solidFill>
                  <a:srgbClr val="1B2A4A"/>
                </a:solidFill>
                <a:latin typeface="Cambria" pitchFamily="34" charset="0"/>
                <a:ea typeface="Cambria" pitchFamily="34" charset="-122"/>
                <a:cs typeface="Cambria" pitchFamily="34" charset="-120"/>
              </a:rPr>
              <a:t>2025 Grand National runner-up.</a:t>
            </a:r>
            <a:endParaRPr lang="en-US" sz="950" dirty="0"/>
          </a:p>
        </p:txBody>
      </p:sp>
      <p:sp>
        <p:nvSpPr>
          <p:cNvPr id="103" name="Shape 101"/>
          <p:cNvSpPr/>
          <p:nvPr/>
        </p:nvSpPr>
        <p:spPr>
          <a:xfrm>
            <a:off x="7324344" y="3968496"/>
            <a:ext cx="2130552" cy="2359152"/>
          </a:xfrm>
          <a:prstGeom prst="rect">
            <a:avLst/>
          </a:prstGeom>
          <a:solidFill>
            <a:srgbClr val="FFFDF8"/>
          </a:solidFill>
          <a:ln w="9525">
            <a:solidFill>
              <a:srgbClr val="DAD3C6"/>
            </a:solidFill>
            <a:prstDash val="solid"/>
          </a:ln>
        </p:spPr>
      </p:sp>
      <p:sp>
        <p:nvSpPr>
          <p:cNvPr id="104" name="Text 102"/>
          <p:cNvSpPr txBox="1"/>
          <p:nvPr/>
        </p:nvSpPr>
        <p:spPr>
          <a:xfrm>
            <a:off x="7452360" y="4041648"/>
            <a:ext cx="731520" cy="384048"/>
          </a:xfrm>
          <a:prstGeom prst="rect">
            <a:avLst/>
          </a:prstGeom>
          <a:noFill/>
          <a:ln/>
        </p:spPr>
        <p:txBody>
          <a:bodyPr wrap="square" lIns="0" tIns="0" rIns="0" bIns="0" rtlCol="0" anchor="b"/>
          <a:lstStyle/>
          <a:p>
            <a:pPr indent="0" marL="0">
              <a:buNone/>
            </a:pPr>
            <a:r>
              <a:rPr lang="en-US" sz="2400" b="1" dirty="0">
                <a:solidFill>
                  <a:srgbClr val="B8862B"/>
                </a:solidFill>
                <a:latin typeface="Arial" pitchFamily="34" charset="0"/>
                <a:ea typeface="Arial" pitchFamily="34" charset="-122"/>
                <a:cs typeface="Arial" pitchFamily="34" charset="-120"/>
              </a:rPr>
              <a:t>9</a:t>
            </a:r>
            <a:endParaRPr lang="en-US" sz="2400" dirty="0"/>
          </a:p>
        </p:txBody>
      </p:sp>
      <p:sp>
        <p:nvSpPr>
          <p:cNvPr id="105" name="Text 103"/>
          <p:cNvSpPr txBox="1"/>
          <p:nvPr/>
        </p:nvSpPr>
        <p:spPr>
          <a:xfrm>
            <a:off x="8631936" y="4041648"/>
            <a:ext cx="694944" cy="384048"/>
          </a:xfrm>
          <a:prstGeom prst="rect">
            <a:avLst/>
          </a:prstGeom>
          <a:noFill/>
          <a:ln/>
        </p:spPr>
        <p:txBody>
          <a:bodyPr wrap="square" lIns="0" tIns="0" rIns="0" bIns="0" rtlCol="0" anchor="b"/>
          <a:lstStyle/>
          <a:p>
            <a:pPr algn="r" indent="0" marL="0">
              <a:buNone/>
            </a:pPr>
            <a:r>
              <a:rPr lang="en-US" sz="1800" b="1" dirty="0">
                <a:solidFill>
                  <a:srgbClr val="1B2A4A"/>
                </a:solidFill>
                <a:latin typeface="Arial" pitchFamily="34" charset="0"/>
                <a:ea typeface="Arial" pitchFamily="34" charset="-122"/>
                <a:cs typeface="Arial" pitchFamily="34" charset="-120"/>
              </a:rPr>
              <a:t>73</a:t>
            </a:r>
            <a:endParaRPr lang="en-US" sz="1800" dirty="0"/>
          </a:p>
        </p:txBody>
      </p:sp>
      <p:sp>
        <p:nvSpPr>
          <p:cNvPr id="106" name="Text 104"/>
          <p:cNvSpPr txBox="1"/>
          <p:nvPr/>
        </p:nvSpPr>
        <p:spPr>
          <a:xfrm>
            <a:off x="7452360" y="4471416"/>
            <a:ext cx="1874520" cy="457200"/>
          </a:xfrm>
          <a:prstGeom prst="rect">
            <a:avLst/>
          </a:prstGeom>
          <a:noFill/>
          <a:ln/>
        </p:spPr>
        <p:txBody>
          <a:bodyPr wrap="square" lIns="0" tIns="0" rIns="0" bIns="0" rtlCol="0" anchor="t"/>
          <a:lstStyle/>
          <a:p>
            <a:pPr indent="0" marL="0">
              <a:buNone/>
            </a:pPr>
            <a:r>
              <a:rPr lang="en-US" sz="1300" b="1" dirty="0">
                <a:solidFill>
                  <a:srgbClr val="1B2A4A"/>
                </a:solidFill>
                <a:latin typeface="Arial" pitchFamily="34" charset="0"/>
                <a:ea typeface="Arial" pitchFamily="34" charset="-122"/>
                <a:cs typeface="Arial" pitchFamily="34" charset="-120"/>
              </a:rPr>
              <a:t>Marcus High School</a:t>
            </a:r>
            <a:endParaRPr lang="en-US" sz="1300" dirty="0"/>
          </a:p>
        </p:txBody>
      </p:sp>
      <p:sp>
        <p:nvSpPr>
          <p:cNvPr id="107" name="Text 105"/>
          <p:cNvSpPr txBox="1"/>
          <p:nvPr/>
        </p:nvSpPr>
        <p:spPr>
          <a:xfrm>
            <a:off x="7452360" y="4901184"/>
            <a:ext cx="1874520" cy="219456"/>
          </a:xfrm>
          <a:prstGeom prst="rect">
            <a:avLst/>
          </a:prstGeom>
          <a:noFill/>
          <a:ln/>
        </p:spPr>
        <p:txBody>
          <a:bodyPr wrap="square" lIns="0" tIns="0" rIns="0" bIns="0" rtlCol="0" anchor="t"/>
          <a:lstStyle/>
          <a:p>
            <a:pPr indent="0" marL="0">
              <a:buNone/>
            </a:pPr>
            <a:r>
              <a:rPr lang="en-US" sz="900" dirty="0">
                <a:solidFill>
                  <a:srgbClr val="5B6478"/>
                </a:solidFill>
                <a:latin typeface="Arial" pitchFamily="34" charset="0"/>
                <a:ea typeface="Arial" pitchFamily="34" charset="-122"/>
                <a:cs typeface="Arial" pitchFamily="34" charset="-120"/>
              </a:rPr>
              <a:t>Flower Mound, TX · 3,003 students</a:t>
            </a:r>
            <a:endParaRPr lang="en-US" sz="900" dirty="0"/>
          </a:p>
        </p:txBody>
      </p:sp>
      <p:sp>
        <p:nvSpPr>
          <p:cNvPr id="108" name="Text 106"/>
          <p:cNvSpPr txBox="1"/>
          <p:nvPr/>
        </p:nvSpPr>
        <p:spPr>
          <a:xfrm>
            <a:off x="7452360" y="513892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2021</a:t>
            </a:r>
            <a:endParaRPr lang="en-US" sz="750" dirty="0"/>
          </a:p>
        </p:txBody>
      </p:sp>
      <p:sp>
        <p:nvSpPr>
          <p:cNvPr id="109" name="Text 107"/>
          <p:cNvSpPr txBox="1"/>
          <p:nvPr/>
        </p:nvSpPr>
        <p:spPr>
          <a:xfrm>
            <a:off x="8035747" y="513892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2025</a:t>
            </a:r>
            <a:endParaRPr lang="en-US" sz="750" dirty="0"/>
          </a:p>
        </p:txBody>
      </p:sp>
      <p:sp>
        <p:nvSpPr>
          <p:cNvPr id="110" name="Text 108"/>
          <p:cNvSpPr txBox="1"/>
          <p:nvPr/>
        </p:nvSpPr>
        <p:spPr>
          <a:xfrm>
            <a:off x="8619134" y="5138928"/>
            <a:ext cx="691286" cy="201168"/>
          </a:xfrm>
          <a:prstGeom prst="roundRect">
            <a:avLst>
              <a:gd name="adj" fmla="val 50000"/>
            </a:avLst>
          </a:prstGeom>
          <a:solidFill>
            <a:srgbClr val="E8DDEC"/>
          </a:solidFill>
          <a:ln/>
        </p:spPr>
        <p:txBody>
          <a:bodyPr wrap="square" lIns="0" tIns="0" rIns="0" bIns="0" rtlCol="0" anchor="ctr"/>
          <a:lstStyle/>
          <a:p>
            <a:pPr algn="ctr" indent="0" marL="0">
              <a:buNone/>
            </a:pPr>
            <a:r>
              <a:rPr lang="en-US" sz="750" b="1" dirty="0">
                <a:solidFill>
                  <a:srgbClr val="4A2F6B"/>
                </a:solidFill>
                <a:latin typeface="Arial" pitchFamily="34" charset="0"/>
                <a:ea typeface="Arial" pitchFamily="34" charset="-122"/>
                <a:cs typeface="Arial" pitchFamily="34" charset="-120"/>
              </a:rPr>
              <a:t>Macy's 2027</a:t>
            </a:r>
            <a:endParaRPr lang="en-US" sz="750" dirty="0"/>
          </a:p>
        </p:txBody>
      </p:sp>
      <p:sp>
        <p:nvSpPr>
          <p:cNvPr id="111" name="Text 109"/>
          <p:cNvSpPr txBox="1"/>
          <p:nvPr/>
        </p:nvSpPr>
        <p:spPr>
          <a:xfrm>
            <a:off x="7452360" y="5760720"/>
            <a:ext cx="1874520" cy="502920"/>
          </a:xfrm>
          <a:prstGeom prst="rect">
            <a:avLst/>
          </a:prstGeom>
          <a:noFill/>
          <a:ln/>
        </p:spPr>
        <p:txBody>
          <a:bodyPr wrap="square" lIns="0" tIns="0" rIns="0" bIns="0" rtlCol="0" anchor="b"/>
          <a:lstStyle/>
          <a:p>
            <a:pPr indent="0" marL="0">
              <a:buNone/>
            </a:pPr>
            <a:r>
              <a:rPr lang="en-US" sz="950" dirty="0">
                <a:solidFill>
                  <a:srgbClr val="1B2A4A"/>
                </a:solidFill>
                <a:latin typeface="Cambria" pitchFamily="34" charset="0"/>
                <a:ea typeface="Cambria" pitchFamily="34" charset="-122"/>
                <a:cs typeface="Cambria" pitchFamily="34" charset="-120"/>
              </a:rPr>
              <a:t>Selected for the 2027 Macy's parade; two Grand National finals.</a:t>
            </a:r>
            <a:endParaRPr lang="en-US" sz="950" dirty="0"/>
          </a:p>
        </p:txBody>
      </p:sp>
      <p:sp>
        <p:nvSpPr>
          <p:cNvPr id="112" name="Shape 110"/>
          <p:cNvSpPr/>
          <p:nvPr/>
        </p:nvSpPr>
        <p:spPr>
          <a:xfrm>
            <a:off x="9582912" y="3968496"/>
            <a:ext cx="2130552" cy="2359152"/>
          </a:xfrm>
          <a:prstGeom prst="rect">
            <a:avLst/>
          </a:prstGeom>
          <a:solidFill>
            <a:srgbClr val="FFFDF8"/>
          </a:solidFill>
          <a:ln w="9525">
            <a:solidFill>
              <a:srgbClr val="DAD3C6"/>
            </a:solidFill>
            <a:prstDash val="solid"/>
          </a:ln>
        </p:spPr>
      </p:sp>
      <p:sp>
        <p:nvSpPr>
          <p:cNvPr id="113" name="Text 111"/>
          <p:cNvSpPr txBox="1"/>
          <p:nvPr/>
        </p:nvSpPr>
        <p:spPr>
          <a:xfrm>
            <a:off x="9710928" y="4041648"/>
            <a:ext cx="731520" cy="384048"/>
          </a:xfrm>
          <a:prstGeom prst="rect">
            <a:avLst/>
          </a:prstGeom>
          <a:noFill/>
          <a:ln/>
        </p:spPr>
        <p:txBody>
          <a:bodyPr wrap="square" lIns="0" tIns="0" rIns="0" bIns="0" rtlCol="0" anchor="b"/>
          <a:lstStyle/>
          <a:p>
            <a:pPr indent="0" marL="0">
              <a:buNone/>
            </a:pPr>
            <a:r>
              <a:rPr lang="en-US" sz="2400" b="1" dirty="0">
                <a:solidFill>
                  <a:srgbClr val="B8862B"/>
                </a:solidFill>
                <a:latin typeface="Arial" pitchFamily="34" charset="0"/>
                <a:ea typeface="Arial" pitchFamily="34" charset="-122"/>
                <a:cs typeface="Arial" pitchFamily="34" charset="-120"/>
              </a:rPr>
              <a:t>10</a:t>
            </a:r>
            <a:endParaRPr lang="en-US" sz="2400" dirty="0"/>
          </a:p>
        </p:txBody>
      </p:sp>
      <p:sp>
        <p:nvSpPr>
          <p:cNvPr id="114" name="Text 112"/>
          <p:cNvSpPr txBox="1"/>
          <p:nvPr/>
        </p:nvSpPr>
        <p:spPr>
          <a:xfrm>
            <a:off x="10890504" y="4041648"/>
            <a:ext cx="694944" cy="384048"/>
          </a:xfrm>
          <a:prstGeom prst="rect">
            <a:avLst/>
          </a:prstGeom>
          <a:noFill/>
          <a:ln/>
        </p:spPr>
        <p:txBody>
          <a:bodyPr wrap="square" lIns="0" tIns="0" rIns="0" bIns="0" rtlCol="0" anchor="b"/>
          <a:lstStyle/>
          <a:p>
            <a:pPr algn="r" indent="0" marL="0">
              <a:buNone/>
            </a:pPr>
            <a:r>
              <a:rPr lang="en-US" sz="1800" b="1" dirty="0">
                <a:solidFill>
                  <a:srgbClr val="1B2A4A"/>
                </a:solidFill>
                <a:latin typeface="Arial" pitchFamily="34" charset="0"/>
                <a:ea typeface="Arial" pitchFamily="34" charset="-122"/>
                <a:cs typeface="Arial" pitchFamily="34" charset="-120"/>
              </a:rPr>
              <a:t>73</a:t>
            </a:r>
            <a:endParaRPr lang="en-US" sz="1800" dirty="0"/>
          </a:p>
        </p:txBody>
      </p:sp>
      <p:sp>
        <p:nvSpPr>
          <p:cNvPr id="115" name="Text 113"/>
          <p:cNvSpPr txBox="1"/>
          <p:nvPr/>
        </p:nvSpPr>
        <p:spPr>
          <a:xfrm>
            <a:off x="9710928" y="4471416"/>
            <a:ext cx="1874520" cy="457200"/>
          </a:xfrm>
          <a:prstGeom prst="rect">
            <a:avLst/>
          </a:prstGeom>
          <a:noFill/>
          <a:ln/>
        </p:spPr>
        <p:txBody>
          <a:bodyPr wrap="square" lIns="0" tIns="0" rIns="0" bIns="0" rtlCol="0" anchor="t"/>
          <a:lstStyle/>
          <a:p>
            <a:pPr indent="0" marL="0">
              <a:buNone/>
            </a:pPr>
            <a:r>
              <a:rPr lang="en-US" sz="1300" b="1" dirty="0">
                <a:solidFill>
                  <a:srgbClr val="1B2A4A"/>
                </a:solidFill>
                <a:latin typeface="Arial" pitchFamily="34" charset="0"/>
                <a:ea typeface="Arial" pitchFamily="34" charset="-122"/>
                <a:cs typeface="Arial" pitchFamily="34" charset="-120"/>
              </a:rPr>
              <a:t>Ronald Reagan High School</a:t>
            </a:r>
            <a:endParaRPr lang="en-US" sz="1300" dirty="0"/>
          </a:p>
        </p:txBody>
      </p:sp>
      <p:sp>
        <p:nvSpPr>
          <p:cNvPr id="116" name="Text 114"/>
          <p:cNvSpPr txBox="1"/>
          <p:nvPr/>
        </p:nvSpPr>
        <p:spPr>
          <a:xfrm>
            <a:off x="9710928" y="4901184"/>
            <a:ext cx="1874520" cy="219456"/>
          </a:xfrm>
          <a:prstGeom prst="rect">
            <a:avLst/>
          </a:prstGeom>
          <a:noFill/>
          <a:ln/>
        </p:spPr>
        <p:txBody>
          <a:bodyPr wrap="square" lIns="0" tIns="0" rIns="0" bIns="0" rtlCol="0" anchor="t"/>
          <a:lstStyle/>
          <a:p>
            <a:pPr indent="0" marL="0">
              <a:buNone/>
            </a:pPr>
            <a:r>
              <a:rPr lang="en-US" sz="900" dirty="0">
                <a:solidFill>
                  <a:srgbClr val="5B6478"/>
                </a:solidFill>
                <a:latin typeface="Arial" pitchFamily="34" charset="0"/>
                <a:ea typeface="Arial" pitchFamily="34" charset="-122"/>
                <a:cs typeface="Arial" pitchFamily="34" charset="-120"/>
              </a:rPr>
              <a:t>San Antonio, TX</a:t>
            </a:r>
            <a:endParaRPr lang="en-US" sz="900" dirty="0"/>
          </a:p>
        </p:txBody>
      </p:sp>
      <p:sp>
        <p:nvSpPr>
          <p:cNvPr id="117" name="Text 115"/>
          <p:cNvSpPr txBox="1"/>
          <p:nvPr/>
        </p:nvSpPr>
        <p:spPr>
          <a:xfrm>
            <a:off x="9710928" y="5138928"/>
            <a:ext cx="588874" cy="201168"/>
          </a:xfrm>
          <a:prstGeom prst="roundRect">
            <a:avLst>
              <a:gd name="adj" fmla="val 50000"/>
            </a:avLst>
          </a:prstGeom>
          <a:solidFill>
            <a:srgbClr val="F1E5CC"/>
          </a:solidFill>
          <a:ln/>
        </p:spPr>
        <p:txBody>
          <a:bodyPr wrap="square" lIns="0" tIns="0" rIns="0" bIns="0" rtlCol="0" anchor="ctr"/>
          <a:lstStyle/>
          <a:p>
            <a:pPr algn="ctr" indent="0" marL="0">
              <a:buNone/>
            </a:pPr>
            <a:r>
              <a:rPr lang="en-US" sz="750" b="1" dirty="0">
                <a:solidFill>
                  <a:srgbClr val="7A5A15"/>
                </a:solidFill>
                <a:latin typeface="Arial" pitchFamily="34" charset="0"/>
                <a:ea typeface="Arial" pitchFamily="34" charset="-122"/>
                <a:cs typeface="Arial" pitchFamily="34" charset="-120"/>
              </a:rPr>
              <a:t>Rose 2018</a:t>
            </a:r>
            <a:endParaRPr lang="en-US" sz="750" dirty="0"/>
          </a:p>
        </p:txBody>
      </p:sp>
      <p:sp>
        <p:nvSpPr>
          <p:cNvPr id="118" name="Text 116"/>
          <p:cNvSpPr txBox="1"/>
          <p:nvPr/>
        </p:nvSpPr>
        <p:spPr>
          <a:xfrm>
            <a:off x="10345522" y="513892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2021</a:t>
            </a:r>
            <a:endParaRPr lang="en-US" sz="750" dirty="0"/>
          </a:p>
        </p:txBody>
      </p:sp>
      <p:sp>
        <p:nvSpPr>
          <p:cNvPr id="119" name="Text 117"/>
          <p:cNvSpPr txBox="1"/>
          <p:nvPr/>
        </p:nvSpPr>
        <p:spPr>
          <a:xfrm>
            <a:off x="10928909" y="5138928"/>
            <a:ext cx="537667" cy="201168"/>
          </a:xfrm>
          <a:prstGeom prst="roundRect">
            <a:avLst>
              <a:gd name="adj" fmla="val 50000"/>
            </a:avLst>
          </a:prstGeom>
          <a:solidFill>
            <a:srgbClr val="DDE3EE"/>
          </a:solidFill>
          <a:ln/>
        </p:spPr>
        <p:txBody>
          <a:bodyPr wrap="square" lIns="0" tIns="0" rIns="0" bIns="0" rtlCol="0" anchor="ctr"/>
          <a:lstStyle/>
          <a:p>
            <a:pPr algn="ctr" indent="0" marL="0">
              <a:buNone/>
            </a:pPr>
            <a:r>
              <a:rPr lang="en-US" sz="750" b="1" dirty="0">
                <a:solidFill>
                  <a:srgbClr val="1B2A4A"/>
                </a:solidFill>
                <a:latin typeface="Arial" pitchFamily="34" charset="0"/>
                <a:ea typeface="Arial" pitchFamily="34" charset="-122"/>
                <a:cs typeface="Arial" pitchFamily="34" charset="-120"/>
              </a:rPr>
              <a:t>BOA 2025</a:t>
            </a:r>
            <a:endParaRPr lang="en-US" sz="750" dirty="0"/>
          </a:p>
        </p:txBody>
      </p:sp>
      <p:sp>
        <p:nvSpPr>
          <p:cNvPr id="120" name="Text 118"/>
          <p:cNvSpPr txBox="1"/>
          <p:nvPr/>
        </p:nvSpPr>
        <p:spPr>
          <a:xfrm>
            <a:off x="9710928" y="5760720"/>
            <a:ext cx="1874520" cy="502920"/>
          </a:xfrm>
          <a:prstGeom prst="rect">
            <a:avLst/>
          </a:prstGeom>
          <a:noFill/>
          <a:ln/>
        </p:spPr>
        <p:txBody>
          <a:bodyPr wrap="square" lIns="0" tIns="0" rIns="0" bIns="0" rtlCol="0" anchor="b"/>
          <a:lstStyle/>
          <a:p>
            <a:pPr indent="0" marL="0">
              <a:buNone/>
            </a:pPr>
            <a:r>
              <a:rPr lang="en-US" sz="950" dirty="0">
                <a:solidFill>
                  <a:srgbClr val="1B2A4A"/>
                </a:solidFill>
                <a:latin typeface="Cambria" pitchFamily="34" charset="0"/>
                <a:ea typeface="Cambria" pitchFamily="34" charset="-122"/>
                <a:cs typeface="Cambria" pitchFamily="34" charset="-120"/>
              </a:rPr>
              <a:t>Federal record not yet matched; district and enrollment to confirm.</a:t>
            </a:r>
            <a:endParaRPr lang="en-US" sz="950" dirty="0"/>
          </a:p>
        </p:txBody>
      </p:sp>
      <p:sp>
        <p:nvSpPr>
          <p:cNvPr id="121" name="Text 119"/>
          <p:cNvSpPr txBox="1"/>
          <p:nvPr/>
        </p:nvSpPr>
        <p:spPr>
          <a:xfrm>
            <a:off x="548640" y="6446520"/>
            <a:ext cx="7680960" cy="274320"/>
          </a:xfrm>
          <a:prstGeom prst="rect">
            <a:avLst/>
          </a:prstGeom>
          <a:noFill/>
          <a:ln/>
        </p:spPr>
        <p:txBody>
          <a:bodyPr wrap="square" lIns="0" tIns="0" rIns="0" bIns="0" rtlCol="0" anchor="ctr"/>
          <a:lstStyle/>
          <a:p>
            <a:pPr indent="0" marL="0">
              <a:buNone/>
            </a:pPr>
            <a:r>
              <a:rPr lang="en-US" sz="900" dirty="0">
                <a:solidFill>
                  <a:srgbClr val="5B6478"/>
                </a:solidFill>
                <a:latin typeface="Arial" pitchFamily="34" charset="0"/>
                <a:ea typeface="Arial" pitchFamily="34" charset="-122"/>
                <a:cs typeface="Arial" pitchFamily="34" charset="-120"/>
              </a:rPr>
              <a:t>Score out of 100: appearances 30 · recency 20 · geography 20 · cross-country travel 15 · BOA finals 15 · published contact +5</a:t>
            </a:r>
            <a:endParaRPr lang="en-US" sz="900" dirty="0"/>
          </a:p>
        </p:txBody>
      </p:sp>
      <p:sp>
        <p:nvSpPr>
          <p:cNvPr id="122" name="Text 120"/>
          <p:cNvSpPr txBox="1"/>
          <p:nvPr/>
        </p:nvSpPr>
        <p:spPr>
          <a:xfrm>
            <a:off x="8229600" y="6446520"/>
            <a:ext cx="3429000" cy="274320"/>
          </a:xfrm>
          <a:prstGeom prst="rect">
            <a:avLst/>
          </a:prstGeom>
          <a:noFill/>
          <a:ln/>
        </p:spPr>
        <p:txBody>
          <a:bodyPr wrap="square" lIns="0" tIns="0" rIns="0" bIns="0" rtlCol="0" anchor="ctr"/>
          <a:lstStyle/>
          <a:p>
            <a:pPr algn="r" indent="0" marL="0">
              <a:buNone/>
            </a:pPr>
            <a:r>
              <a:rPr lang="en-US" sz="900" dirty="0">
                <a:solidFill>
                  <a:srgbClr val="5B6478"/>
                </a:solidFill>
                <a:latin typeface="Arial" pitchFamily="34" charset="0"/>
                <a:ea typeface="Arial" pitchFamily="34" charset="-122"/>
                <a:cs typeface="Arial" pitchFamily="34" charset="-120"/>
              </a:rPr>
              <a:t>Macy's from news reports; official Macy's and Chicago lineups not yet included. Tarpon Springs, FL sits at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731520" y="411480"/>
            <a:ext cx="5486400" cy="274320"/>
          </a:xfrm>
          <a:prstGeom prst="rect">
            <a:avLst/>
          </a:prstGeom>
          <a:noFill/>
          <a:ln/>
        </p:spPr>
        <p:txBody>
          <a:bodyPr wrap="square" lIns="0" tIns="0" rIns="0" bIns="0" rtlCol="0" anchor="ctr"/>
          <a:lstStyle/>
          <a:p>
            <a:pPr indent="0" marL="0">
              <a:buNone/>
            </a:pPr>
            <a:r>
              <a:rPr lang="en-US" sz="1100" b="1" spc="300" kern="0" dirty="0">
                <a:solidFill>
                  <a:srgbClr val="B8862B"/>
                </a:solidFill>
                <a:latin typeface="Arial" pitchFamily="34" charset="0"/>
                <a:ea typeface="Arial" pitchFamily="34" charset="-122"/>
                <a:cs typeface="Arial" pitchFamily="34" charset="-120"/>
              </a:rPr>
              <a:t>METHOD</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ctr"/>
          <a:lstStyle/>
          <a:p>
            <a:pPr indent="0" marL="0">
              <a:buNone/>
            </a:pPr>
            <a:r>
              <a:rPr lang="en-US" sz="3000" b="1" dirty="0">
                <a:solidFill>
                  <a:srgbClr val="1B2A4A"/>
                </a:solidFill>
                <a:latin typeface="Arial" pitchFamily="34" charset="0"/>
                <a:ea typeface="Arial" pitchFamily="34" charset="-122"/>
                <a:cs typeface="Arial" pitchFamily="34" charset="-120"/>
              </a:rPr>
              <a:t>How the list was built, and what it deliberately does not do</a:t>
            </a:r>
            <a:endParaRPr lang="en-US" sz="3000" dirty="0"/>
          </a:p>
        </p:txBody>
      </p:sp>
      <p:sp>
        <p:nvSpPr>
          <p:cNvPr id="4" name="Text 2"/>
          <p:cNvSpPr txBox="1"/>
          <p:nvPr/>
        </p:nvSpPr>
        <p:spPr>
          <a:xfrm>
            <a:off x="731520" y="1737360"/>
            <a:ext cx="3383280" cy="457200"/>
          </a:xfrm>
          <a:prstGeom prst="rect">
            <a:avLst/>
          </a:prstGeom>
          <a:noFill/>
          <a:ln/>
        </p:spPr>
        <p:txBody>
          <a:bodyPr wrap="square" lIns="0" tIns="0" rIns="0" bIns="0" rtlCol="0" anchor="ctr"/>
          <a:lstStyle/>
          <a:p>
            <a:pPr indent="0" marL="0">
              <a:buNone/>
            </a:pPr>
            <a:r>
              <a:rPr lang="en-US" sz="2000" b="1" dirty="0">
                <a:solidFill>
                  <a:srgbClr val="1B2A4A"/>
                </a:solidFill>
                <a:latin typeface="Arial" pitchFamily="34" charset="0"/>
                <a:ea typeface="Arial" pitchFamily="34" charset="-122"/>
                <a:cs typeface="Arial" pitchFamily="34" charset="-120"/>
              </a:rPr>
              <a:t>Public records only</a:t>
            </a:r>
            <a:endParaRPr lang="en-US" sz="2000" dirty="0"/>
          </a:p>
        </p:txBody>
      </p:sp>
      <p:sp>
        <p:nvSpPr>
          <p:cNvPr id="5" name="Text 3"/>
          <p:cNvSpPr txBox="1"/>
          <p:nvPr/>
        </p:nvSpPr>
        <p:spPr>
          <a:xfrm>
            <a:off x="731520" y="2286000"/>
            <a:ext cx="3383280" cy="3840480"/>
          </a:xfrm>
          <a:prstGeom prst="rect">
            <a:avLst/>
          </a:prstGeom>
          <a:noFill/>
          <a:ln/>
        </p:spPr>
        <p:txBody>
          <a:bodyPr wrap="square" lIns="0" tIns="0" rIns="0" bIns="0" rtlCol="0" anchor="t"/>
          <a:lstStyle/>
          <a:p>
            <a:pPr indent="0" marL="0">
              <a:spcAft>
                <a:spcPts val="800"/>
              </a:spcAft>
              <a:buNone/>
            </a:pPr>
            <a:r>
              <a:rPr lang="en-US" sz="1250" dirty="0">
                <a:solidFill>
                  <a:srgbClr val="1B2A4A"/>
                </a:solidFill>
                <a:latin typeface="Cambria" pitchFamily="34" charset="0"/>
                <a:ea typeface="Cambria" pitchFamily="34" charset="-122"/>
                <a:cs typeface="Cambria" pitchFamily="34" charset="-120"/>
              </a:rPr>
              <a:t>Lineups from the Rose Parade (2015–2027), the Philadelphia Thanksgiving parade, the Hollywood Christmas Parade, Houston's H-E-B parade, every Bands of America Grand National finalist since 2018, and licensed news search for headlines that name a school band in Macy's or an East Coast holiday parade.</a:t>
            </a:r>
            <a:endParaRPr lang="en-US" sz="1250" dirty="0"/>
          </a:p>
          <a:p>
            <a:pPr indent="0" marL="0">
              <a:spcAft>
                <a:spcPts val="800"/>
              </a:spcAft>
              <a:buNone/>
            </a:pPr>
            <a:r>
              <a:rPr lang="en-US" sz="1250" dirty="0">
                <a:solidFill>
                  <a:srgbClr val="1B2A4A"/>
                </a:solidFill>
                <a:latin typeface="Cambria" pitchFamily="34" charset="0"/>
                <a:ea typeface="Cambria" pitchFamily="34" charset="-122"/>
                <a:cs typeface="Cambria" pitchFamily="34" charset="-120"/>
              </a:rPr>
              <a:t>Each school is matched to the federal Common Core of Data for district, enrollment, and website. Colleges, drum corps, honor bands, military and community bands, and non-US groups are set aside: 180 groups removed.</a:t>
            </a:r>
            <a:endParaRPr lang="en-US" sz="1250" dirty="0"/>
          </a:p>
        </p:txBody>
      </p:sp>
      <p:sp>
        <p:nvSpPr>
          <p:cNvPr id="6" name="Text 4"/>
          <p:cNvSpPr txBox="1"/>
          <p:nvPr/>
        </p:nvSpPr>
        <p:spPr>
          <a:xfrm>
            <a:off x="4434840" y="1737360"/>
            <a:ext cx="3383280" cy="457200"/>
          </a:xfrm>
          <a:prstGeom prst="rect">
            <a:avLst/>
          </a:prstGeom>
          <a:noFill/>
          <a:ln/>
        </p:spPr>
        <p:txBody>
          <a:bodyPr wrap="square" lIns="0" tIns="0" rIns="0" bIns="0" rtlCol="0" anchor="ctr"/>
          <a:lstStyle/>
          <a:p>
            <a:pPr indent="0" marL="0">
              <a:buNone/>
            </a:pPr>
            <a:r>
              <a:rPr lang="en-US" sz="2000" b="1" dirty="0">
                <a:solidFill>
                  <a:srgbClr val="1B2A4A"/>
                </a:solidFill>
                <a:latin typeface="Arial" pitchFamily="34" charset="0"/>
                <a:ea typeface="Arial" pitchFamily="34" charset="-122"/>
                <a:cs typeface="Arial" pitchFamily="34" charset="-120"/>
              </a:rPr>
              <a:t>Ranked for Orlando</a:t>
            </a:r>
            <a:endParaRPr lang="en-US" sz="2000" dirty="0"/>
          </a:p>
        </p:txBody>
      </p:sp>
      <p:sp>
        <p:nvSpPr>
          <p:cNvPr id="7" name="Text 5"/>
          <p:cNvSpPr txBox="1"/>
          <p:nvPr/>
        </p:nvSpPr>
        <p:spPr>
          <a:xfrm>
            <a:off x="4434840" y="2286000"/>
            <a:ext cx="548640" cy="457200"/>
          </a:xfrm>
          <a:prstGeom prst="rect">
            <a:avLst/>
          </a:prstGeom>
          <a:noFill/>
          <a:ln/>
        </p:spPr>
        <p:txBody>
          <a:bodyPr wrap="square" lIns="0" tIns="0" rIns="0" bIns="0" rtlCol="0" anchor="t"/>
          <a:lstStyle/>
          <a:p>
            <a:pPr indent="0" marL="0">
              <a:buNone/>
            </a:pPr>
            <a:r>
              <a:rPr lang="en-US" sz="1800" b="1" dirty="0">
                <a:solidFill>
                  <a:srgbClr val="B8862B"/>
                </a:solidFill>
                <a:latin typeface="Arial" pitchFamily="34" charset="0"/>
                <a:ea typeface="Arial" pitchFamily="34" charset="-122"/>
                <a:cs typeface="Arial" pitchFamily="34" charset="-120"/>
              </a:rPr>
              <a:t>30</a:t>
            </a:r>
            <a:endParaRPr lang="en-US" sz="1800" dirty="0"/>
          </a:p>
        </p:txBody>
      </p:sp>
      <p:sp>
        <p:nvSpPr>
          <p:cNvPr id="8" name="Text 6"/>
          <p:cNvSpPr txBox="1"/>
          <p:nvPr/>
        </p:nvSpPr>
        <p:spPr>
          <a:xfrm>
            <a:off x="5029200" y="2313432"/>
            <a:ext cx="2788920" cy="566928"/>
          </a:xfrm>
          <a:prstGeom prst="rect">
            <a:avLst/>
          </a:prstGeom>
          <a:noFill/>
          <a:ln/>
        </p:spPr>
        <p:txBody>
          <a:bodyPr wrap="square" lIns="0" tIns="0" rIns="0" bIns="0" rtlCol="0" anchor="t"/>
          <a:lstStyle/>
          <a:p>
            <a:pPr indent="0" marL="0">
              <a:buNone/>
            </a:pPr>
            <a:r>
              <a:rPr lang="en-US" sz="1200" dirty="0">
                <a:solidFill>
                  <a:srgbClr val="1B2A4A"/>
                </a:solidFill>
                <a:latin typeface="Cambria" pitchFamily="34" charset="0"/>
                <a:ea typeface="Cambria" pitchFamily="34" charset="-122"/>
                <a:cs typeface="Cambria" pitchFamily="34" charset="-120"/>
              </a:rPr>
              <a:t>Number of major parade appearances</a:t>
            </a:r>
            <a:endParaRPr lang="en-US" sz="1200" dirty="0"/>
          </a:p>
        </p:txBody>
      </p:sp>
      <p:sp>
        <p:nvSpPr>
          <p:cNvPr id="9" name="Text 7"/>
          <p:cNvSpPr txBox="1"/>
          <p:nvPr/>
        </p:nvSpPr>
        <p:spPr>
          <a:xfrm>
            <a:off x="4434840" y="2889504"/>
            <a:ext cx="548640" cy="457200"/>
          </a:xfrm>
          <a:prstGeom prst="rect">
            <a:avLst/>
          </a:prstGeom>
          <a:noFill/>
          <a:ln/>
        </p:spPr>
        <p:txBody>
          <a:bodyPr wrap="square" lIns="0" tIns="0" rIns="0" bIns="0" rtlCol="0" anchor="t"/>
          <a:lstStyle/>
          <a:p>
            <a:pPr indent="0" marL="0">
              <a:buNone/>
            </a:pPr>
            <a:r>
              <a:rPr lang="en-US" sz="1800" b="1" dirty="0">
                <a:solidFill>
                  <a:srgbClr val="B8862B"/>
                </a:solidFill>
                <a:latin typeface="Arial" pitchFamily="34" charset="0"/>
                <a:ea typeface="Arial" pitchFamily="34" charset="-122"/>
                <a:cs typeface="Arial" pitchFamily="34" charset="-120"/>
              </a:rPr>
              <a:t>20</a:t>
            </a:r>
            <a:endParaRPr lang="en-US" sz="1800" dirty="0"/>
          </a:p>
        </p:txBody>
      </p:sp>
      <p:sp>
        <p:nvSpPr>
          <p:cNvPr id="10" name="Text 8"/>
          <p:cNvSpPr txBox="1"/>
          <p:nvPr/>
        </p:nvSpPr>
        <p:spPr>
          <a:xfrm>
            <a:off x="5029200" y="2916936"/>
            <a:ext cx="2788920" cy="566928"/>
          </a:xfrm>
          <a:prstGeom prst="rect">
            <a:avLst/>
          </a:prstGeom>
          <a:noFill/>
          <a:ln/>
        </p:spPr>
        <p:txBody>
          <a:bodyPr wrap="square" lIns="0" tIns="0" rIns="0" bIns="0" rtlCol="0" anchor="t"/>
          <a:lstStyle/>
          <a:p>
            <a:pPr indent="0" marL="0">
              <a:buNone/>
            </a:pPr>
            <a:r>
              <a:rPr lang="en-US" sz="1200" dirty="0">
                <a:solidFill>
                  <a:srgbClr val="1B2A4A"/>
                </a:solidFill>
                <a:latin typeface="Cambria" pitchFamily="34" charset="0"/>
                <a:ea typeface="Cambria" pitchFamily="34" charset="-122"/>
                <a:cs typeface="Cambria" pitchFamily="34" charset="-120"/>
              </a:rPr>
              <a:t>How recent the last appearance was</a:t>
            </a:r>
            <a:endParaRPr lang="en-US" sz="1200" dirty="0"/>
          </a:p>
        </p:txBody>
      </p:sp>
      <p:sp>
        <p:nvSpPr>
          <p:cNvPr id="11" name="Text 9"/>
          <p:cNvSpPr txBox="1"/>
          <p:nvPr/>
        </p:nvSpPr>
        <p:spPr>
          <a:xfrm>
            <a:off x="4434840" y="3493008"/>
            <a:ext cx="548640" cy="457200"/>
          </a:xfrm>
          <a:prstGeom prst="rect">
            <a:avLst/>
          </a:prstGeom>
          <a:noFill/>
          <a:ln/>
        </p:spPr>
        <p:txBody>
          <a:bodyPr wrap="square" lIns="0" tIns="0" rIns="0" bIns="0" rtlCol="0" anchor="t"/>
          <a:lstStyle/>
          <a:p>
            <a:pPr indent="0" marL="0">
              <a:buNone/>
            </a:pPr>
            <a:r>
              <a:rPr lang="en-US" sz="1800" b="1" dirty="0">
                <a:solidFill>
                  <a:srgbClr val="B8862B"/>
                </a:solidFill>
                <a:latin typeface="Arial" pitchFamily="34" charset="0"/>
                <a:ea typeface="Arial" pitchFamily="34" charset="-122"/>
                <a:cs typeface="Arial" pitchFamily="34" charset="-120"/>
              </a:rPr>
              <a:t>20</a:t>
            </a:r>
            <a:endParaRPr lang="en-US" sz="1800" dirty="0"/>
          </a:p>
        </p:txBody>
      </p:sp>
      <p:sp>
        <p:nvSpPr>
          <p:cNvPr id="12" name="Text 10"/>
          <p:cNvSpPr txBox="1"/>
          <p:nvPr/>
        </p:nvSpPr>
        <p:spPr>
          <a:xfrm>
            <a:off x="5029200" y="3520440"/>
            <a:ext cx="2788920" cy="566928"/>
          </a:xfrm>
          <a:prstGeom prst="rect">
            <a:avLst/>
          </a:prstGeom>
          <a:noFill/>
          <a:ln/>
        </p:spPr>
        <p:txBody>
          <a:bodyPr wrap="square" lIns="0" tIns="0" rIns="0" bIns="0" rtlCol="0" anchor="t"/>
          <a:lstStyle/>
          <a:p>
            <a:pPr indent="0" marL="0">
              <a:buNone/>
            </a:pPr>
            <a:r>
              <a:rPr lang="en-US" sz="1200" dirty="0">
                <a:solidFill>
                  <a:srgbClr val="1B2A4A"/>
                </a:solidFill>
                <a:latin typeface="Cambria" pitchFamily="34" charset="0"/>
                <a:ea typeface="Cambria" pitchFamily="34" charset="-122"/>
                <a:cs typeface="Cambria" pitchFamily="34" charset="-120"/>
              </a:rPr>
              <a:t>Proximity to Orlando: Florida first, then GA, AL, SC, NC, TN</a:t>
            </a:r>
            <a:endParaRPr lang="en-US" sz="1200" dirty="0"/>
          </a:p>
        </p:txBody>
      </p:sp>
      <p:sp>
        <p:nvSpPr>
          <p:cNvPr id="13" name="Text 11"/>
          <p:cNvSpPr txBox="1"/>
          <p:nvPr/>
        </p:nvSpPr>
        <p:spPr>
          <a:xfrm>
            <a:off x="4434840" y="4096512"/>
            <a:ext cx="548640" cy="457200"/>
          </a:xfrm>
          <a:prstGeom prst="rect">
            <a:avLst/>
          </a:prstGeom>
          <a:noFill/>
          <a:ln/>
        </p:spPr>
        <p:txBody>
          <a:bodyPr wrap="square" lIns="0" tIns="0" rIns="0" bIns="0" rtlCol="0" anchor="t"/>
          <a:lstStyle/>
          <a:p>
            <a:pPr indent="0" marL="0">
              <a:buNone/>
            </a:pPr>
            <a:r>
              <a:rPr lang="en-US" sz="1800" b="1" dirty="0">
                <a:solidFill>
                  <a:srgbClr val="B8862B"/>
                </a:solidFill>
                <a:latin typeface="Arial" pitchFamily="34" charset="0"/>
                <a:ea typeface="Arial" pitchFamily="34" charset="-122"/>
                <a:cs typeface="Arial" pitchFamily="34" charset="-120"/>
              </a:rPr>
              <a:t>15</a:t>
            </a:r>
            <a:endParaRPr lang="en-US" sz="1800" dirty="0"/>
          </a:p>
        </p:txBody>
      </p:sp>
      <p:sp>
        <p:nvSpPr>
          <p:cNvPr id="14" name="Text 12"/>
          <p:cNvSpPr txBox="1"/>
          <p:nvPr/>
        </p:nvSpPr>
        <p:spPr>
          <a:xfrm>
            <a:off x="5029200" y="4123944"/>
            <a:ext cx="2788920" cy="566928"/>
          </a:xfrm>
          <a:prstGeom prst="rect">
            <a:avLst/>
          </a:prstGeom>
          <a:noFill/>
          <a:ln/>
        </p:spPr>
        <p:txBody>
          <a:bodyPr wrap="square" lIns="0" tIns="0" rIns="0" bIns="0" rtlCol="0" anchor="t"/>
          <a:lstStyle/>
          <a:p>
            <a:pPr indent="0" marL="0">
              <a:buNone/>
            </a:pPr>
            <a:r>
              <a:rPr lang="en-US" sz="1200" dirty="0">
                <a:solidFill>
                  <a:srgbClr val="1B2A4A"/>
                </a:solidFill>
                <a:latin typeface="Cambria" pitchFamily="34" charset="0"/>
                <a:ea typeface="Cambria" pitchFamily="34" charset="-122"/>
                <a:cs typeface="Cambria" pitchFamily="34" charset="-120"/>
              </a:rPr>
              <a:t>Has flown a full band cross-country: Rose, Macy's, or Hollywood</a:t>
            </a:r>
            <a:endParaRPr lang="en-US" sz="1200" dirty="0"/>
          </a:p>
        </p:txBody>
      </p:sp>
      <p:sp>
        <p:nvSpPr>
          <p:cNvPr id="15" name="Text 13"/>
          <p:cNvSpPr txBox="1"/>
          <p:nvPr/>
        </p:nvSpPr>
        <p:spPr>
          <a:xfrm>
            <a:off x="4434840" y="4700016"/>
            <a:ext cx="548640" cy="457200"/>
          </a:xfrm>
          <a:prstGeom prst="rect">
            <a:avLst/>
          </a:prstGeom>
          <a:noFill/>
          <a:ln/>
        </p:spPr>
        <p:txBody>
          <a:bodyPr wrap="square" lIns="0" tIns="0" rIns="0" bIns="0" rtlCol="0" anchor="t"/>
          <a:lstStyle/>
          <a:p>
            <a:pPr indent="0" marL="0">
              <a:buNone/>
            </a:pPr>
            <a:r>
              <a:rPr lang="en-US" sz="1800" b="1" dirty="0">
                <a:solidFill>
                  <a:srgbClr val="B8862B"/>
                </a:solidFill>
                <a:latin typeface="Arial" pitchFamily="34" charset="0"/>
                <a:ea typeface="Arial" pitchFamily="34" charset="-122"/>
                <a:cs typeface="Arial" pitchFamily="34" charset="-120"/>
              </a:rPr>
              <a:t>15</a:t>
            </a:r>
            <a:endParaRPr lang="en-US" sz="1800" dirty="0"/>
          </a:p>
        </p:txBody>
      </p:sp>
      <p:sp>
        <p:nvSpPr>
          <p:cNvPr id="16" name="Text 14"/>
          <p:cNvSpPr txBox="1"/>
          <p:nvPr/>
        </p:nvSpPr>
        <p:spPr>
          <a:xfrm>
            <a:off x="5029200" y="4727448"/>
            <a:ext cx="2788920" cy="566928"/>
          </a:xfrm>
          <a:prstGeom prst="rect">
            <a:avLst/>
          </a:prstGeom>
          <a:noFill/>
          <a:ln/>
        </p:spPr>
        <p:txBody>
          <a:bodyPr wrap="square" lIns="0" tIns="0" rIns="0" bIns="0" rtlCol="0" anchor="t"/>
          <a:lstStyle/>
          <a:p>
            <a:pPr indent="0" marL="0">
              <a:buNone/>
            </a:pPr>
            <a:r>
              <a:rPr lang="en-US" sz="1200" dirty="0">
                <a:solidFill>
                  <a:srgbClr val="1B2A4A"/>
                </a:solidFill>
                <a:latin typeface="Cambria" pitchFamily="34" charset="0"/>
                <a:ea typeface="Cambria" pitchFamily="34" charset="-122"/>
                <a:cs typeface="Cambria" pitchFamily="34" charset="-120"/>
              </a:rPr>
              <a:t>Bands of America Grand National finalist years</a:t>
            </a:r>
            <a:endParaRPr lang="en-US" sz="1200" dirty="0"/>
          </a:p>
        </p:txBody>
      </p:sp>
      <p:sp>
        <p:nvSpPr>
          <p:cNvPr id="17" name="Text 15"/>
          <p:cNvSpPr txBox="1"/>
          <p:nvPr/>
        </p:nvSpPr>
        <p:spPr>
          <a:xfrm>
            <a:off x="4434840" y="5303520"/>
            <a:ext cx="548640" cy="457200"/>
          </a:xfrm>
          <a:prstGeom prst="rect">
            <a:avLst/>
          </a:prstGeom>
          <a:noFill/>
          <a:ln/>
        </p:spPr>
        <p:txBody>
          <a:bodyPr wrap="square" lIns="0" tIns="0" rIns="0" bIns="0" rtlCol="0" anchor="t"/>
          <a:lstStyle/>
          <a:p>
            <a:pPr indent="0" marL="0">
              <a:buNone/>
            </a:pPr>
            <a:r>
              <a:rPr lang="en-US" sz="1800" b="1" dirty="0">
                <a:solidFill>
                  <a:srgbClr val="B8862B"/>
                </a:solidFill>
                <a:latin typeface="Arial" pitchFamily="34" charset="0"/>
                <a:ea typeface="Arial" pitchFamily="34" charset="-122"/>
                <a:cs typeface="Arial" pitchFamily="34" charset="-120"/>
              </a:rPr>
              <a:t>+5</a:t>
            </a:r>
            <a:endParaRPr lang="en-US" sz="1800" dirty="0"/>
          </a:p>
        </p:txBody>
      </p:sp>
      <p:sp>
        <p:nvSpPr>
          <p:cNvPr id="18" name="Text 16"/>
          <p:cNvSpPr txBox="1"/>
          <p:nvPr/>
        </p:nvSpPr>
        <p:spPr>
          <a:xfrm>
            <a:off x="5029200" y="5330952"/>
            <a:ext cx="2788920" cy="566928"/>
          </a:xfrm>
          <a:prstGeom prst="rect">
            <a:avLst/>
          </a:prstGeom>
          <a:noFill/>
          <a:ln/>
        </p:spPr>
        <p:txBody>
          <a:bodyPr wrap="square" lIns="0" tIns="0" rIns="0" bIns="0" rtlCol="0" anchor="t"/>
          <a:lstStyle/>
          <a:p>
            <a:pPr indent="0" marL="0">
              <a:buNone/>
            </a:pPr>
            <a:r>
              <a:rPr lang="en-US" sz="1200" dirty="0">
                <a:solidFill>
                  <a:srgbClr val="1B2A4A"/>
                </a:solidFill>
                <a:latin typeface="Cambria" pitchFamily="34" charset="0"/>
                <a:ea typeface="Cambria" pitchFamily="34" charset="-122"/>
                <a:cs typeface="Cambria" pitchFamily="34" charset="-120"/>
              </a:rPr>
              <a:t>A published band-director email</a:t>
            </a:r>
            <a:endParaRPr lang="en-US" sz="1200" dirty="0"/>
          </a:p>
        </p:txBody>
      </p:sp>
      <p:sp>
        <p:nvSpPr>
          <p:cNvPr id="19" name="Text 17"/>
          <p:cNvSpPr txBox="1"/>
          <p:nvPr/>
        </p:nvSpPr>
        <p:spPr>
          <a:xfrm>
            <a:off x="4434840" y="5943600"/>
            <a:ext cx="3383280" cy="548640"/>
          </a:xfrm>
          <a:prstGeom prst="rect">
            <a:avLst/>
          </a:prstGeom>
          <a:noFill/>
          <a:ln/>
        </p:spPr>
        <p:txBody>
          <a:bodyPr wrap="square" lIns="0" tIns="0" rIns="0" bIns="0" rtlCol="0" anchor="t"/>
          <a:lstStyle/>
          <a:p>
            <a:pPr indent="0" marL="0">
              <a:buNone/>
            </a:pPr>
            <a:r>
              <a:rPr lang="en-US" sz="1100" i="1" dirty="0">
                <a:solidFill>
                  <a:srgbClr val="5B6478"/>
                </a:solidFill>
                <a:latin typeface="Cambria" pitchFamily="34" charset="0"/>
                <a:ea typeface="Cambria" pitchFamily="34" charset="-122"/>
                <a:cs typeface="Cambria" pitchFamily="34" charset="-120"/>
              </a:rPr>
              <a:t>Weights live in one settings block and can be retargeted for another parade in minutes.</a:t>
            </a:r>
            <a:endParaRPr lang="en-US" sz="1100" dirty="0"/>
          </a:p>
        </p:txBody>
      </p:sp>
      <p:sp>
        <p:nvSpPr>
          <p:cNvPr id="20" name="Text 18"/>
          <p:cNvSpPr txBox="1"/>
          <p:nvPr/>
        </p:nvSpPr>
        <p:spPr>
          <a:xfrm>
            <a:off x="8138160" y="1737360"/>
            <a:ext cx="3383280" cy="457200"/>
          </a:xfrm>
          <a:prstGeom prst="rect">
            <a:avLst/>
          </a:prstGeom>
          <a:noFill/>
          <a:ln/>
        </p:spPr>
        <p:txBody>
          <a:bodyPr wrap="square" lIns="0" tIns="0" rIns="0" bIns="0" rtlCol="0" anchor="ctr"/>
          <a:lstStyle/>
          <a:p>
            <a:pPr indent="0" marL="0">
              <a:buNone/>
            </a:pPr>
            <a:r>
              <a:rPr lang="en-US" sz="2000" b="1" dirty="0">
                <a:solidFill>
                  <a:srgbClr val="1B2A4A"/>
                </a:solidFill>
                <a:latin typeface="Arial" pitchFamily="34" charset="0"/>
                <a:ea typeface="Arial" pitchFamily="34" charset="-122"/>
                <a:cs typeface="Arial" pitchFamily="34" charset="-120"/>
              </a:rPr>
              <a:t>Nothing is guessed</a:t>
            </a:r>
            <a:endParaRPr lang="en-US" sz="2000" dirty="0"/>
          </a:p>
        </p:txBody>
      </p:sp>
      <p:sp>
        <p:nvSpPr>
          <p:cNvPr id="21" name="Text 19"/>
          <p:cNvSpPr txBox="1"/>
          <p:nvPr/>
        </p:nvSpPr>
        <p:spPr>
          <a:xfrm>
            <a:off x="8138160" y="2286000"/>
            <a:ext cx="3383280" cy="3840480"/>
          </a:xfrm>
          <a:prstGeom prst="rect">
            <a:avLst/>
          </a:prstGeom>
          <a:noFill/>
          <a:ln/>
        </p:spPr>
        <p:txBody>
          <a:bodyPr wrap="square" lIns="0" tIns="0" rIns="0" bIns="0" rtlCol="0" anchor="t"/>
          <a:lstStyle/>
          <a:p>
            <a:pPr indent="0" marL="0">
              <a:spcAft>
                <a:spcPts val="800"/>
              </a:spcAft>
              <a:buNone/>
            </a:pPr>
            <a:r>
              <a:rPr lang="en-US" sz="1250" dirty="0">
                <a:solidFill>
                  <a:srgbClr val="1B2A4A"/>
                </a:solidFill>
                <a:latin typeface="Cambria" pitchFamily="34" charset="0"/>
                <a:ea typeface="Cambria" pitchFamily="34" charset="-122"/>
                <a:cs typeface="Cambria" pitchFamily="34" charset="-120"/>
              </a:rPr>
              <a:t>A director's name or email is recorded only when a school, district, or booster site prints it with the title band director. The sheet has few emails, and that is by design: every contact on it is safe to use.</a:t>
            </a:r>
            <a:endParaRPr lang="en-US" sz="1250" dirty="0"/>
          </a:p>
          <a:p>
            <a:pPr indent="0" marL="0">
              <a:spcAft>
                <a:spcPts val="800"/>
              </a:spcAft>
              <a:buNone/>
            </a:pPr>
            <a:r>
              <a:rPr lang="en-US" sz="1250" dirty="0">
                <a:solidFill>
                  <a:srgbClr val="1B2A4A"/>
                </a:solidFill>
                <a:latin typeface="Cambria" pitchFamily="34" charset="0"/>
                <a:ea typeface="Cambria" pitchFamily="34" charset="-122"/>
                <a:cs typeface="Cambria" pitchFamily="34" charset="-120"/>
              </a:rPr>
              <a:t>Official Macy's and Chicago lineups are not yet included because those sites block automated access; Macy's appearances come from news reports so far. Four pages saved from a browser fill in both.</a:t>
            </a:r>
            <a:endParaRPr lang="en-US" sz="1250" dirty="0"/>
          </a:p>
          <a:p>
            <a:pPr indent="0" marL="0">
              <a:spcAft>
                <a:spcPts val="800"/>
              </a:spcAft>
              <a:buNone/>
            </a:pPr>
            <a:r>
              <a:rPr lang="en-US" sz="1250" dirty="0">
                <a:solidFill>
                  <a:srgbClr val="1B2A4A"/>
                </a:solidFill>
                <a:latin typeface="Cambria" pitchFamily="34" charset="0"/>
                <a:ea typeface="Cambria" pitchFamily="34" charset="-122"/>
                <a:cs typeface="Cambria" pitchFamily="34" charset="-120"/>
              </a:rPr>
              <a:t>The list refreshes itself each March, October, and November as lineups are announced.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731520" y="411480"/>
            <a:ext cx="5486400" cy="274320"/>
          </a:xfrm>
          <a:prstGeom prst="rect">
            <a:avLst/>
          </a:prstGeom>
          <a:noFill/>
          <a:ln/>
        </p:spPr>
        <p:txBody>
          <a:bodyPr wrap="square" lIns="0" tIns="0" rIns="0" bIns="0" rtlCol="0" anchor="ctr"/>
          <a:lstStyle/>
          <a:p>
            <a:pPr indent="0" marL="0">
              <a:buNone/>
            </a:pPr>
            <a:r>
              <a:rPr lang="en-US" sz="1100" b="1" spc="300" kern="0" dirty="0">
                <a:solidFill>
                  <a:srgbClr val="D9A64A"/>
                </a:solidFill>
                <a:latin typeface="Arial" pitchFamily="34" charset="0"/>
                <a:ea typeface="Arial" pitchFamily="34" charset="-122"/>
                <a:cs typeface="Arial" pitchFamily="34" charset="-120"/>
              </a:rPr>
              <a:t>BEFORE THE NEXT PASS</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ctr"/>
          <a:lstStyle/>
          <a:p>
            <a:pPr indent="0" marL="0">
              <a:buNone/>
            </a:pPr>
            <a:r>
              <a:rPr lang="en-US" sz="3400" b="1" dirty="0">
                <a:solidFill>
                  <a:srgbClr val="F7F4EE"/>
                </a:solidFill>
                <a:latin typeface="Arial" pitchFamily="34" charset="0"/>
                <a:ea typeface="Arial" pitchFamily="34" charset="-122"/>
                <a:cs typeface="Arial" pitchFamily="34" charset="-120"/>
              </a:rPr>
              <a:t>Five decisions that change the list</a:t>
            </a:r>
            <a:endParaRPr lang="en-US" sz="3400" dirty="0"/>
          </a:p>
        </p:txBody>
      </p:sp>
      <p:sp>
        <p:nvSpPr>
          <p:cNvPr id="4" name="Text 2"/>
          <p:cNvSpPr txBox="1"/>
          <p:nvPr/>
        </p:nvSpPr>
        <p:spPr>
          <a:xfrm>
            <a:off x="731520" y="1691640"/>
            <a:ext cx="640080" cy="640080"/>
          </a:xfrm>
          <a:prstGeom prst="rect">
            <a:avLst/>
          </a:prstGeom>
          <a:noFill/>
          <a:ln/>
        </p:spPr>
        <p:txBody>
          <a:bodyPr wrap="square" lIns="0" tIns="0" rIns="0" bIns="0" rtlCol="0" anchor="t"/>
          <a:lstStyle/>
          <a:p>
            <a:pPr indent="0" marL="0">
              <a:buNone/>
            </a:pPr>
            <a:r>
              <a:rPr lang="en-US" sz="3200" b="1" dirty="0">
                <a:solidFill>
                  <a:srgbClr val="D9A64A"/>
                </a:solidFill>
                <a:latin typeface="Arial" pitchFamily="34" charset="0"/>
                <a:ea typeface="Arial" pitchFamily="34" charset="-122"/>
                <a:cs typeface="Arial" pitchFamily="34" charset="-120"/>
              </a:rPr>
              <a:t>1</a:t>
            </a:r>
            <a:endParaRPr lang="en-US" sz="3200" dirty="0"/>
          </a:p>
        </p:txBody>
      </p:sp>
      <p:sp>
        <p:nvSpPr>
          <p:cNvPr id="5" name="Text 3"/>
          <p:cNvSpPr txBox="1"/>
          <p:nvPr/>
        </p:nvSpPr>
        <p:spPr>
          <a:xfrm>
            <a:off x="1463040" y="1691640"/>
            <a:ext cx="4480560" cy="731520"/>
          </a:xfrm>
          <a:prstGeom prst="rect">
            <a:avLst/>
          </a:prstGeom>
          <a:noFill/>
          <a:ln/>
        </p:spPr>
        <p:txBody>
          <a:bodyPr wrap="square" lIns="0" tIns="0" rIns="0" bIns="0" rtlCol="0" anchor="t"/>
          <a:lstStyle/>
          <a:p>
            <a:pPr indent="0" marL="0">
              <a:buNone/>
            </a:pPr>
            <a:r>
              <a:rPr lang="en-US" sz="1500" b="1" dirty="0">
                <a:solidFill>
                  <a:srgbClr val="F7F4EE"/>
                </a:solidFill>
                <a:latin typeface="Arial" pitchFamily="34" charset="0"/>
                <a:ea typeface="Arial" pitchFamily="34" charset="-122"/>
                <a:cs typeface="Arial" pitchFamily="34" charset="-120"/>
              </a:rPr>
              <a:t>Is the Universal Orlando Veterans Day date confirmed, and for which year?</a:t>
            </a:r>
            <a:endParaRPr lang="en-US" sz="1500" dirty="0"/>
          </a:p>
        </p:txBody>
      </p:sp>
      <p:sp>
        <p:nvSpPr>
          <p:cNvPr id="6" name="Text 4"/>
          <p:cNvSpPr txBox="1"/>
          <p:nvPr/>
        </p:nvSpPr>
        <p:spPr>
          <a:xfrm>
            <a:off x="1463040" y="2441448"/>
            <a:ext cx="4480560" cy="457200"/>
          </a:xfrm>
          <a:prstGeom prst="rect">
            <a:avLst/>
          </a:prstGeom>
          <a:noFill/>
          <a:ln/>
        </p:spPr>
        <p:txBody>
          <a:bodyPr wrap="square" lIns="0" tIns="0" rIns="0" bIns="0" rtlCol="0" anchor="t"/>
          <a:lstStyle/>
          <a:p>
            <a:pPr indent="0" marL="0">
              <a:buNone/>
            </a:pPr>
            <a:r>
              <a:rPr lang="en-US" sz="1200" dirty="0">
                <a:solidFill>
                  <a:srgbClr val="C9CFDD"/>
                </a:solidFill>
                <a:latin typeface="Cambria" pitchFamily="34" charset="0"/>
                <a:ea typeface="Cambria" pitchFamily="34" charset="-122"/>
                <a:cs typeface="Cambria" pitchFamily="34" charset="-120"/>
              </a:rPr>
              <a:t>Sets which appearance years still count as recent.</a:t>
            </a:r>
            <a:endParaRPr lang="en-US" sz="1200" dirty="0"/>
          </a:p>
        </p:txBody>
      </p:sp>
      <p:sp>
        <p:nvSpPr>
          <p:cNvPr id="7" name="Text 5"/>
          <p:cNvSpPr txBox="1"/>
          <p:nvPr/>
        </p:nvSpPr>
        <p:spPr>
          <a:xfrm>
            <a:off x="6309360" y="1691640"/>
            <a:ext cx="640080" cy="640080"/>
          </a:xfrm>
          <a:prstGeom prst="rect">
            <a:avLst/>
          </a:prstGeom>
          <a:noFill/>
          <a:ln/>
        </p:spPr>
        <p:txBody>
          <a:bodyPr wrap="square" lIns="0" tIns="0" rIns="0" bIns="0" rtlCol="0" anchor="t"/>
          <a:lstStyle/>
          <a:p>
            <a:pPr indent="0" marL="0">
              <a:buNone/>
            </a:pPr>
            <a:r>
              <a:rPr lang="en-US" sz="3200" b="1" dirty="0">
                <a:solidFill>
                  <a:srgbClr val="D9A64A"/>
                </a:solidFill>
                <a:latin typeface="Arial" pitchFamily="34" charset="0"/>
                <a:ea typeface="Arial" pitchFamily="34" charset="-122"/>
                <a:cs typeface="Arial" pitchFamily="34" charset="-120"/>
              </a:rPr>
              <a:t>2</a:t>
            </a:r>
            <a:endParaRPr lang="en-US" sz="3200" dirty="0"/>
          </a:p>
        </p:txBody>
      </p:sp>
      <p:sp>
        <p:nvSpPr>
          <p:cNvPr id="8" name="Text 6"/>
          <p:cNvSpPr txBox="1"/>
          <p:nvPr/>
        </p:nvSpPr>
        <p:spPr>
          <a:xfrm>
            <a:off x="7040880" y="1691640"/>
            <a:ext cx="4480560" cy="731520"/>
          </a:xfrm>
          <a:prstGeom prst="rect">
            <a:avLst/>
          </a:prstGeom>
          <a:noFill/>
          <a:ln/>
        </p:spPr>
        <p:txBody>
          <a:bodyPr wrap="square" lIns="0" tIns="0" rIns="0" bIns="0" rtlCol="0" anchor="t"/>
          <a:lstStyle/>
          <a:p>
            <a:pPr indent="0" marL="0">
              <a:buNone/>
            </a:pPr>
            <a:r>
              <a:rPr lang="en-US" sz="1500" b="1" dirty="0">
                <a:solidFill>
                  <a:srgbClr val="F7F4EE"/>
                </a:solidFill>
                <a:latin typeface="Arial" pitchFamily="34" charset="0"/>
                <a:ea typeface="Arial" pitchFamily="34" charset="-122"/>
                <a:cs typeface="Arial" pitchFamily="34" charset="-120"/>
              </a:rPr>
              <a:t>How many bands can it take, and is there a size or audition requirement?</a:t>
            </a:r>
            <a:endParaRPr lang="en-US" sz="1500" dirty="0"/>
          </a:p>
        </p:txBody>
      </p:sp>
      <p:sp>
        <p:nvSpPr>
          <p:cNvPr id="9" name="Text 7"/>
          <p:cNvSpPr txBox="1"/>
          <p:nvPr/>
        </p:nvSpPr>
        <p:spPr>
          <a:xfrm>
            <a:off x="7040880" y="2441448"/>
            <a:ext cx="4480560" cy="457200"/>
          </a:xfrm>
          <a:prstGeom prst="rect">
            <a:avLst/>
          </a:prstGeom>
          <a:noFill/>
          <a:ln/>
        </p:spPr>
        <p:txBody>
          <a:bodyPr wrap="square" lIns="0" tIns="0" rIns="0" bIns="0" rtlCol="0" anchor="t"/>
          <a:lstStyle/>
          <a:p>
            <a:pPr indent="0" marL="0">
              <a:buNone/>
            </a:pPr>
            <a:r>
              <a:rPr lang="en-US" sz="1200" dirty="0">
                <a:solidFill>
                  <a:srgbClr val="C9CFDD"/>
                </a:solidFill>
                <a:latin typeface="Cambria" pitchFamily="34" charset="0"/>
                <a:ea typeface="Cambria" pitchFamily="34" charset="-122"/>
                <a:cs typeface="Cambria" pitchFamily="34" charset="-120"/>
              </a:rPr>
              <a:t>Decides whether enrollment and BOA ratings become hard filters.</a:t>
            </a:r>
            <a:endParaRPr lang="en-US" sz="1200" dirty="0"/>
          </a:p>
        </p:txBody>
      </p:sp>
      <p:sp>
        <p:nvSpPr>
          <p:cNvPr id="10" name="Text 8"/>
          <p:cNvSpPr txBox="1"/>
          <p:nvPr/>
        </p:nvSpPr>
        <p:spPr>
          <a:xfrm>
            <a:off x="731520" y="3154680"/>
            <a:ext cx="640080" cy="640080"/>
          </a:xfrm>
          <a:prstGeom prst="rect">
            <a:avLst/>
          </a:prstGeom>
          <a:noFill/>
          <a:ln/>
        </p:spPr>
        <p:txBody>
          <a:bodyPr wrap="square" lIns="0" tIns="0" rIns="0" bIns="0" rtlCol="0" anchor="t"/>
          <a:lstStyle/>
          <a:p>
            <a:pPr indent="0" marL="0">
              <a:buNone/>
            </a:pPr>
            <a:r>
              <a:rPr lang="en-US" sz="3200" b="1" dirty="0">
                <a:solidFill>
                  <a:srgbClr val="D9A64A"/>
                </a:solidFill>
                <a:latin typeface="Arial" pitchFamily="34" charset="0"/>
                <a:ea typeface="Arial" pitchFamily="34" charset="-122"/>
                <a:cs typeface="Arial" pitchFamily="34" charset="-120"/>
              </a:rPr>
              <a:t>3</a:t>
            </a:r>
            <a:endParaRPr lang="en-US" sz="3200" dirty="0"/>
          </a:p>
        </p:txBody>
      </p:sp>
      <p:sp>
        <p:nvSpPr>
          <p:cNvPr id="11" name="Text 9"/>
          <p:cNvSpPr txBox="1"/>
          <p:nvPr/>
        </p:nvSpPr>
        <p:spPr>
          <a:xfrm>
            <a:off x="1463040" y="3154680"/>
            <a:ext cx="4480560" cy="731520"/>
          </a:xfrm>
          <a:prstGeom prst="rect">
            <a:avLst/>
          </a:prstGeom>
          <a:noFill/>
          <a:ln/>
        </p:spPr>
        <p:txBody>
          <a:bodyPr wrap="square" lIns="0" tIns="0" rIns="0" bIns="0" rtlCol="0" anchor="t"/>
          <a:lstStyle/>
          <a:p>
            <a:pPr indent="0" marL="0">
              <a:buNone/>
            </a:pPr>
            <a:r>
              <a:rPr lang="en-US" sz="1500" b="1" dirty="0">
                <a:solidFill>
                  <a:srgbClr val="F7F4EE"/>
                </a:solidFill>
                <a:latin typeface="Arial" pitchFamily="34" charset="0"/>
                <a:ea typeface="Arial" pitchFamily="34" charset="-122"/>
                <a:cs typeface="Arial" pitchFamily="34" charset="-120"/>
              </a:rPr>
              <a:t>Who do you reach first: director, booster president, or district fine-arts lead?</a:t>
            </a:r>
            <a:endParaRPr lang="en-US" sz="1500" dirty="0"/>
          </a:p>
        </p:txBody>
      </p:sp>
      <p:sp>
        <p:nvSpPr>
          <p:cNvPr id="12" name="Text 10"/>
          <p:cNvSpPr txBox="1"/>
          <p:nvPr/>
        </p:nvSpPr>
        <p:spPr>
          <a:xfrm>
            <a:off x="1463040" y="3904488"/>
            <a:ext cx="4480560" cy="457200"/>
          </a:xfrm>
          <a:prstGeom prst="rect">
            <a:avLst/>
          </a:prstGeom>
          <a:noFill/>
          <a:ln/>
        </p:spPr>
        <p:txBody>
          <a:bodyPr wrap="square" lIns="0" tIns="0" rIns="0" bIns="0" rtlCol="0" anchor="t"/>
          <a:lstStyle/>
          <a:p>
            <a:pPr indent="0" marL="0">
              <a:buNone/>
            </a:pPr>
            <a:r>
              <a:rPr lang="en-US" sz="1200" dirty="0">
                <a:solidFill>
                  <a:srgbClr val="C9CFDD"/>
                </a:solidFill>
                <a:latin typeface="Cambria" pitchFamily="34" charset="0"/>
                <a:ea typeface="Cambria" pitchFamily="34" charset="-122"/>
                <a:cs typeface="Cambria" pitchFamily="34" charset="-120"/>
              </a:rPr>
              <a:t>Today the search looks for the director only.</a:t>
            </a:r>
            <a:endParaRPr lang="en-US" sz="1200" dirty="0"/>
          </a:p>
        </p:txBody>
      </p:sp>
      <p:sp>
        <p:nvSpPr>
          <p:cNvPr id="13" name="Text 11"/>
          <p:cNvSpPr txBox="1"/>
          <p:nvPr/>
        </p:nvSpPr>
        <p:spPr>
          <a:xfrm>
            <a:off x="6309360" y="3154680"/>
            <a:ext cx="640080" cy="640080"/>
          </a:xfrm>
          <a:prstGeom prst="rect">
            <a:avLst/>
          </a:prstGeom>
          <a:noFill/>
          <a:ln/>
        </p:spPr>
        <p:txBody>
          <a:bodyPr wrap="square" lIns="0" tIns="0" rIns="0" bIns="0" rtlCol="0" anchor="t"/>
          <a:lstStyle/>
          <a:p>
            <a:pPr indent="0" marL="0">
              <a:buNone/>
            </a:pPr>
            <a:r>
              <a:rPr lang="en-US" sz="3200" b="1" dirty="0">
                <a:solidFill>
                  <a:srgbClr val="D9A64A"/>
                </a:solidFill>
                <a:latin typeface="Arial" pitchFamily="34" charset="0"/>
                <a:ea typeface="Arial" pitchFamily="34" charset="-122"/>
                <a:cs typeface="Arial" pitchFamily="34" charset="-120"/>
              </a:rPr>
              <a:t>4</a:t>
            </a:r>
            <a:endParaRPr lang="en-US" sz="3200" dirty="0"/>
          </a:p>
        </p:txBody>
      </p:sp>
      <p:sp>
        <p:nvSpPr>
          <p:cNvPr id="14" name="Text 12"/>
          <p:cNvSpPr txBox="1"/>
          <p:nvPr/>
        </p:nvSpPr>
        <p:spPr>
          <a:xfrm>
            <a:off x="7040880" y="3154680"/>
            <a:ext cx="4480560" cy="731520"/>
          </a:xfrm>
          <a:prstGeom prst="rect">
            <a:avLst/>
          </a:prstGeom>
          <a:noFill/>
          <a:ln/>
        </p:spPr>
        <p:txBody>
          <a:bodyPr wrap="square" lIns="0" tIns="0" rIns="0" bIns="0" rtlCol="0" anchor="t"/>
          <a:lstStyle/>
          <a:p>
            <a:pPr indent="0" marL="0">
              <a:buNone/>
            </a:pPr>
            <a:r>
              <a:rPr lang="en-US" sz="1500" b="1" dirty="0">
                <a:solidFill>
                  <a:srgbClr val="F7F4EE"/>
                </a:solidFill>
                <a:latin typeface="Arial" pitchFamily="34" charset="0"/>
                <a:ea typeface="Arial" pitchFamily="34" charset="-122"/>
                <a:cs typeface="Arial" pitchFamily="34" charset="-120"/>
              </a:rPr>
              <a:t>Does Florida-first geography match how you sell, or should Texas rank higher?</a:t>
            </a:r>
            <a:endParaRPr lang="en-US" sz="1500" dirty="0"/>
          </a:p>
        </p:txBody>
      </p:sp>
      <p:sp>
        <p:nvSpPr>
          <p:cNvPr id="15" name="Text 13"/>
          <p:cNvSpPr txBox="1"/>
          <p:nvPr/>
        </p:nvSpPr>
        <p:spPr>
          <a:xfrm>
            <a:off x="7040880" y="3904488"/>
            <a:ext cx="4480560" cy="457200"/>
          </a:xfrm>
          <a:prstGeom prst="rect">
            <a:avLst/>
          </a:prstGeom>
          <a:noFill/>
          <a:ln/>
        </p:spPr>
        <p:txBody>
          <a:bodyPr wrap="square" lIns="0" tIns="0" rIns="0" bIns="0" rtlCol="0" anchor="t"/>
          <a:lstStyle/>
          <a:p>
            <a:pPr indent="0" marL="0">
              <a:buNone/>
            </a:pPr>
            <a:r>
              <a:rPr lang="en-US" sz="1200" dirty="0">
                <a:solidFill>
                  <a:srgbClr val="C9CFDD"/>
                </a:solidFill>
                <a:latin typeface="Cambria" pitchFamily="34" charset="0"/>
                <a:ea typeface="Cambria" pitchFamily="34" charset="-122"/>
                <a:cs typeface="Cambria" pitchFamily="34" charset="-120"/>
              </a:rPr>
              <a:t>One weight change reorders the top 50.</a:t>
            </a:r>
            <a:endParaRPr lang="en-US" sz="1200" dirty="0"/>
          </a:p>
        </p:txBody>
      </p:sp>
      <p:sp>
        <p:nvSpPr>
          <p:cNvPr id="16" name="Text 14"/>
          <p:cNvSpPr txBox="1"/>
          <p:nvPr/>
        </p:nvSpPr>
        <p:spPr>
          <a:xfrm>
            <a:off x="731520" y="4617720"/>
            <a:ext cx="640080" cy="640080"/>
          </a:xfrm>
          <a:prstGeom prst="rect">
            <a:avLst/>
          </a:prstGeom>
          <a:noFill/>
          <a:ln/>
        </p:spPr>
        <p:txBody>
          <a:bodyPr wrap="square" lIns="0" tIns="0" rIns="0" bIns="0" rtlCol="0" anchor="t"/>
          <a:lstStyle/>
          <a:p>
            <a:pPr indent="0" marL="0">
              <a:buNone/>
            </a:pPr>
            <a:r>
              <a:rPr lang="en-US" sz="3200" b="1" dirty="0">
                <a:solidFill>
                  <a:srgbClr val="D9A64A"/>
                </a:solidFill>
                <a:latin typeface="Arial" pitchFamily="34" charset="0"/>
                <a:ea typeface="Arial" pitchFamily="34" charset="-122"/>
                <a:cs typeface="Arial" pitchFamily="34" charset="-120"/>
              </a:rPr>
              <a:t>5</a:t>
            </a:r>
            <a:endParaRPr lang="en-US" sz="3200" dirty="0"/>
          </a:p>
        </p:txBody>
      </p:sp>
      <p:sp>
        <p:nvSpPr>
          <p:cNvPr id="17" name="Text 15"/>
          <p:cNvSpPr txBox="1"/>
          <p:nvPr/>
        </p:nvSpPr>
        <p:spPr>
          <a:xfrm>
            <a:off x="1463040" y="4617720"/>
            <a:ext cx="4480560" cy="731520"/>
          </a:xfrm>
          <a:prstGeom prst="rect">
            <a:avLst/>
          </a:prstGeom>
          <a:noFill/>
          <a:ln/>
        </p:spPr>
        <p:txBody>
          <a:bodyPr wrap="square" lIns="0" tIns="0" rIns="0" bIns="0" rtlCol="0" anchor="t"/>
          <a:lstStyle/>
          <a:p>
            <a:pPr indent="0" marL="0">
              <a:buNone/>
            </a:pPr>
            <a:r>
              <a:rPr lang="en-US" sz="1500" b="1" dirty="0">
                <a:solidFill>
                  <a:srgbClr val="F7F4EE"/>
                </a:solidFill>
                <a:latin typeface="Arial" pitchFamily="34" charset="0"/>
                <a:ea typeface="Arial" pitchFamily="34" charset="-122"/>
                <a:cs typeface="Arial" pitchFamily="34" charset="-120"/>
              </a:rPr>
              <a:t>Any schools already under contract, or never to be contacted?</a:t>
            </a:r>
            <a:endParaRPr lang="en-US" sz="1500" dirty="0"/>
          </a:p>
        </p:txBody>
      </p:sp>
      <p:sp>
        <p:nvSpPr>
          <p:cNvPr id="18" name="Text 16"/>
          <p:cNvSpPr txBox="1"/>
          <p:nvPr/>
        </p:nvSpPr>
        <p:spPr>
          <a:xfrm>
            <a:off x="1463040" y="5367528"/>
            <a:ext cx="4480560" cy="457200"/>
          </a:xfrm>
          <a:prstGeom prst="rect">
            <a:avLst/>
          </a:prstGeom>
          <a:noFill/>
          <a:ln/>
        </p:spPr>
        <p:txBody>
          <a:bodyPr wrap="square" lIns="0" tIns="0" rIns="0" bIns="0" rtlCol="0" anchor="t"/>
          <a:lstStyle/>
          <a:p>
            <a:pPr indent="0" marL="0">
              <a:buNone/>
            </a:pPr>
            <a:r>
              <a:rPr lang="en-US" sz="1200" dirty="0">
                <a:solidFill>
                  <a:srgbClr val="C9CFDD"/>
                </a:solidFill>
                <a:latin typeface="Cambria" pitchFamily="34" charset="0"/>
                <a:ea typeface="Cambria" pitchFamily="34" charset="-122"/>
                <a:cs typeface="Cambria" pitchFamily="34" charset="-120"/>
              </a:rPr>
              <a:t>A suppression list applied before anyone sees the sheet.</a:t>
            </a:r>
            <a:endParaRPr lang="en-US" sz="1200" dirty="0"/>
          </a:p>
        </p:txBody>
      </p:sp>
      <p:sp>
        <p:nvSpPr>
          <p:cNvPr id="19" name="Text 17"/>
          <p:cNvSpPr txBox="1"/>
          <p:nvPr/>
        </p:nvSpPr>
        <p:spPr>
          <a:xfrm>
            <a:off x="6309360" y="4617720"/>
            <a:ext cx="640080" cy="640080"/>
          </a:xfrm>
          <a:prstGeom prst="rect">
            <a:avLst/>
          </a:prstGeom>
          <a:noFill/>
          <a:ln/>
        </p:spPr>
        <p:txBody>
          <a:bodyPr wrap="square" lIns="0" tIns="0" rIns="0" bIns="0" rtlCol="0" anchor="t"/>
          <a:lstStyle/>
          <a:p>
            <a:pPr indent="0" marL="0">
              <a:buNone/>
            </a:pPr>
            <a:r>
              <a:rPr lang="en-US" sz="3200" b="1" dirty="0">
                <a:solidFill>
                  <a:srgbClr val="D9A64A"/>
                </a:solidFill>
                <a:latin typeface="Arial" pitchFamily="34" charset="0"/>
                <a:ea typeface="Arial" pitchFamily="34" charset="-122"/>
                <a:cs typeface="Arial" pitchFamily="34" charset="-120"/>
              </a:rPr>
              <a:t>+</a:t>
            </a:r>
            <a:endParaRPr lang="en-US" sz="3200" dirty="0"/>
          </a:p>
        </p:txBody>
      </p:sp>
      <p:sp>
        <p:nvSpPr>
          <p:cNvPr id="20" name="Text 18"/>
          <p:cNvSpPr txBox="1"/>
          <p:nvPr/>
        </p:nvSpPr>
        <p:spPr>
          <a:xfrm>
            <a:off x="7040880" y="4617720"/>
            <a:ext cx="4480560" cy="731520"/>
          </a:xfrm>
          <a:prstGeom prst="rect">
            <a:avLst/>
          </a:prstGeom>
          <a:noFill/>
          <a:ln/>
        </p:spPr>
        <p:txBody>
          <a:bodyPr wrap="square" lIns="0" tIns="0" rIns="0" bIns="0" rtlCol="0" anchor="t"/>
          <a:lstStyle/>
          <a:p>
            <a:pPr indent="0" marL="0">
              <a:buNone/>
            </a:pPr>
            <a:r>
              <a:rPr lang="en-US" sz="1500" b="1" dirty="0">
                <a:solidFill>
                  <a:srgbClr val="F7F4EE"/>
                </a:solidFill>
                <a:latin typeface="Arial" pitchFamily="34" charset="0"/>
                <a:ea typeface="Arial" pitchFamily="34" charset="-122"/>
                <a:cs typeface="Arial" pitchFamily="34" charset="-120"/>
              </a:rPr>
              <a:t>Can someone on your side save the Macy's and Chicago lineup pages?</a:t>
            </a:r>
            <a:endParaRPr lang="en-US" sz="1500" dirty="0"/>
          </a:p>
        </p:txBody>
      </p:sp>
      <p:sp>
        <p:nvSpPr>
          <p:cNvPr id="21" name="Text 19"/>
          <p:cNvSpPr txBox="1"/>
          <p:nvPr/>
        </p:nvSpPr>
        <p:spPr>
          <a:xfrm>
            <a:off x="7040880" y="5367528"/>
            <a:ext cx="4480560" cy="457200"/>
          </a:xfrm>
          <a:prstGeom prst="rect">
            <a:avLst/>
          </a:prstGeom>
          <a:noFill/>
          <a:ln/>
        </p:spPr>
        <p:txBody>
          <a:bodyPr wrap="square" lIns="0" tIns="0" rIns="0" bIns="0" rtlCol="0" anchor="t"/>
          <a:lstStyle/>
          <a:p>
            <a:pPr indent="0" marL="0">
              <a:buNone/>
            </a:pPr>
            <a:r>
              <a:rPr lang="en-US" sz="1200" dirty="0">
                <a:solidFill>
                  <a:srgbClr val="C9CFDD"/>
                </a:solidFill>
                <a:latin typeface="Cambria" pitchFamily="34" charset="0"/>
                <a:ea typeface="Cambria" pitchFamily="34" charset="-122"/>
                <a:cs typeface="Cambria" pitchFamily="34" charset="-120"/>
              </a:rPr>
              <a:t>Ten minutes in a browser; unblocks the two biggest missing sources.</a:t>
            </a:r>
            <a:endParaRPr lang="en-US" sz="1200" dirty="0"/>
          </a:p>
        </p:txBody>
      </p:sp>
      <p:sp>
        <p:nvSpPr>
          <p:cNvPr id="22" name="Text 20"/>
          <p:cNvSpPr txBox="1"/>
          <p:nvPr/>
        </p:nvSpPr>
        <p:spPr>
          <a:xfrm>
            <a:off x="731520" y="6263640"/>
            <a:ext cx="7315200" cy="274320"/>
          </a:xfrm>
          <a:prstGeom prst="rect">
            <a:avLst/>
          </a:prstGeom>
          <a:noFill/>
          <a:ln/>
        </p:spPr>
        <p:txBody>
          <a:bodyPr wrap="square" lIns="0" tIns="0" rIns="0" bIns="0" rtlCol="0" anchor="ctr"/>
          <a:lstStyle/>
          <a:p>
            <a:pPr indent="0" marL="0">
              <a:buNone/>
            </a:pPr>
            <a:r>
              <a:rPr lang="en-US" sz="1000" dirty="0">
                <a:solidFill>
                  <a:srgbClr val="C9CFDD"/>
                </a:solidFill>
                <a:latin typeface="Arial" pitchFamily="34" charset="0"/>
                <a:ea typeface="Arial" pitchFamily="34" charset="-122"/>
                <a:cs typeface="Arial" pitchFamily="34" charset="-120"/>
              </a:rPr>
              <a:t>Handed over today: prospects.xlsx (Tier A, Tier B, East Coast, All) · one-page brief · Top 10 spread</a:t>
            </a:r>
            <a:endParaRPr lang="en-US" sz="1000" dirty="0"/>
          </a:p>
        </p:txBody>
      </p:sp>
      <p:sp>
        <p:nvSpPr>
          <p:cNvPr id="23" name="Text 21"/>
          <p:cNvSpPr txBox="1"/>
          <p:nvPr/>
        </p:nvSpPr>
        <p:spPr>
          <a:xfrm>
            <a:off x="8138160" y="6263640"/>
            <a:ext cx="3291840" cy="274320"/>
          </a:xfrm>
          <a:prstGeom prst="rect">
            <a:avLst/>
          </a:prstGeom>
          <a:noFill/>
          <a:ln/>
        </p:spPr>
        <p:txBody>
          <a:bodyPr wrap="square" lIns="0" tIns="0" rIns="0" bIns="0" rtlCol="0" anchor="ctr"/>
          <a:lstStyle/>
          <a:p>
            <a:pPr algn="r" indent="0" marL="0">
              <a:buNone/>
            </a:pPr>
            <a:r>
              <a:rPr lang="en-US" sz="1000" dirty="0">
                <a:solidFill>
                  <a:srgbClr val="C9CFDD"/>
                </a:solidFill>
                <a:latin typeface="Arial" pitchFamily="34" charset="0"/>
                <a:ea typeface="Arial" pitchFamily="34" charset="-122"/>
                <a:cs typeface="Arial" pitchFamily="34" charset="-120"/>
              </a:rPr>
              <a:t>Next refresh: 15 October, after the Macy's announcement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Parade Prospects Deck</dc:title>
  <dc:subject>PptxGenJS Presentation</dc:subject>
  <dc:creator>Parade Prospects</dc:creator>
  <cp:lastModifiedBy>Parade Prospects</cp:lastModifiedBy>
  <cp:revision>1</cp:revision>
  <dcterms:created xsi:type="dcterms:W3CDTF">2026-09-10T18:44:41Z</dcterms:created>
  <dcterms:modified xsi:type="dcterms:W3CDTF">2026-09-10T18:44:41Z</dcterms:modified>
</cp:coreProperties>
</file>